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3" r:id="rId4"/>
  </p:sldMasterIdLst>
  <p:notesMasterIdLst>
    <p:notesMasterId r:id="rId17"/>
  </p:notesMasterIdLst>
  <p:sldIdLst>
    <p:sldId id="257" r:id="rId5"/>
    <p:sldId id="256" r:id="rId6"/>
    <p:sldId id="268" r:id="rId7"/>
    <p:sldId id="262" r:id="rId8"/>
    <p:sldId id="264" r:id="rId9"/>
    <p:sldId id="263" r:id="rId10"/>
    <p:sldId id="289" r:id="rId11"/>
    <p:sldId id="265" r:id="rId12"/>
    <p:sldId id="267" r:id="rId13"/>
    <p:sldId id="266" r:id="rId14"/>
    <p:sldId id="269" r:id="rId15"/>
    <p:sldId id="270" r:id="rId16"/>
  </p:sldIdLst>
  <p:sldSz cx="9144000" cy="6858000" type="screen4x3"/>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222B"/>
    <a:srgbClr val="00324F"/>
    <a:srgbClr val="2F528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659" autoAdjust="0"/>
  </p:normalViewPr>
  <p:slideViewPr>
    <p:cSldViewPr snapToGrid="0">
      <p:cViewPr varScale="1">
        <p:scale>
          <a:sx n="102" d="100"/>
          <a:sy n="102" d="100"/>
        </p:scale>
        <p:origin x="188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Cassidy" userId="04aadb54-5065-413d-a1dd-47b5f6cd7bb7" providerId="ADAL" clId="{08FFA7FC-72D4-48CC-BB9C-A0E6C4D87518}"/>
    <pc:docChg chg="delSld modSld sldOrd">
      <pc:chgData name="Nick Cassidy" userId="04aadb54-5065-413d-a1dd-47b5f6cd7bb7" providerId="ADAL" clId="{08FFA7FC-72D4-48CC-BB9C-A0E6C4D87518}" dt="2025-06-09T14:46:02.995" v="6" actId="1076"/>
      <pc:docMkLst>
        <pc:docMk/>
      </pc:docMkLst>
      <pc:sldChg chg="modSp mod">
        <pc:chgData name="Nick Cassidy" userId="04aadb54-5065-413d-a1dd-47b5f6cd7bb7" providerId="ADAL" clId="{08FFA7FC-72D4-48CC-BB9C-A0E6C4D87518}" dt="2025-06-09T14:46:02.995" v="6" actId="1076"/>
        <pc:sldMkLst>
          <pc:docMk/>
          <pc:sldMk cId="3185331823" sldId="257"/>
        </pc:sldMkLst>
        <pc:spChg chg="mod">
          <ac:chgData name="Nick Cassidy" userId="04aadb54-5065-413d-a1dd-47b5f6cd7bb7" providerId="ADAL" clId="{08FFA7FC-72D4-48CC-BB9C-A0E6C4D87518}" dt="2025-06-09T14:46:02.995" v="6" actId="1076"/>
          <ac:spMkLst>
            <pc:docMk/>
            <pc:sldMk cId="3185331823" sldId="257"/>
            <ac:spMk id="2" creationId="{A17B2B6E-D4AE-B51D-D9A2-536B51280D00}"/>
          </ac:spMkLst>
        </pc:spChg>
      </pc:sldChg>
      <pc:sldChg chg="ord">
        <pc:chgData name="Nick Cassidy" userId="04aadb54-5065-413d-a1dd-47b5f6cd7bb7" providerId="ADAL" clId="{08FFA7FC-72D4-48CC-BB9C-A0E6C4D87518}" dt="2025-06-09T14:45:54.342" v="4"/>
        <pc:sldMkLst>
          <pc:docMk/>
          <pc:sldMk cId="2888896933" sldId="270"/>
        </pc:sldMkLst>
      </pc:sldChg>
      <pc:sldChg chg="del">
        <pc:chgData name="Nick Cassidy" userId="04aadb54-5065-413d-a1dd-47b5f6cd7bb7" providerId="ADAL" clId="{08FFA7FC-72D4-48CC-BB9C-A0E6C4D87518}" dt="2025-06-09T14:45:51.572" v="2" actId="47"/>
        <pc:sldMkLst>
          <pc:docMk/>
          <pc:sldMk cId="2724681881" sldId="279"/>
        </pc:sldMkLst>
      </pc:sldChg>
      <pc:sldChg chg="del">
        <pc:chgData name="Nick Cassidy" userId="04aadb54-5065-413d-a1dd-47b5f6cd7bb7" providerId="ADAL" clId="{08FFA7FC-72D4-48CC-BB9C-A0E6C4D87518}" dt="2025-06-09T14:45:51.572" v="2" actId="47"/>
        <pc:sldMkLst>
          <pc:docMk/>
          <pc:sldMk cId="1617271862" sldId="280"/>
        </pc:sldMkLst>
      </pc:sldChg>
      <pc:sldChg chg="del">
        <pc:chgData name="Nick Cassidy" userId="04aadb54-5065-413d-a1dd-47b5f6cd7bb7" providerId="ADAL" clId="{08FFA7FC-72D4-48CC-BB9C-A0E6C4D87518}" dt="2025-06-09T14:45:51.572" v="2" actId="47"/>
        <pc:sldMkLst>
          <pc:docMk/>
          <pc:sldMk cId="440429377" sldId="281"/>
        </pc:sldMkLst>
      </pc:sldChg>
      <pc:sldChg chg="del">
        <pc:chgData name="Nick Cassidy" userId="04aadb54-5065-413d-a1dd-47b5f6cd7bb7" providerId="ADAL" clId="{08FFA7FC-72D4-48CC-BB9C-A0E6C4D87518}" dt="2025-06-09T14:45:51.572" v="2" actId="47"/>
        <pc:sldMkLst>
          <pc:docMk/>
          <pc:sldMk cId="109653414" sldId="282"/>
        </pc:sldMkLst>
      </pc:sldChg>
      <pc:sldChg chg="del">
        <pc:chgData name="Nick Cassidy" userId="04aadb54-5065-413d-a1dd-47b5f6cd7bb7" providerId="ADAL" clId="{08FFA7FC-72D4-48CC-BB9C-A0E6C4D87518}" dt="2025-06-09T14:45:51.572" v="2" actId="47"/>
        <pc:sldMkLst>
          <pc:docMk/>
          <pc:sldMk cId="1549010434" sldId="283"/>
        </pc:sldMkLst>
      </pc:sldChg>
      <pc:sldChg chg="del">
        <pc:chgData name="Nick Cassidy" userId="04aadb54-5065-413d-a1dd-47b5f6cd7bb7" providerId="ADAL" clId="{08FFA7FC-72D4-48CC-BB9C-A0E6C4D87518}" dt="2025-06-09T14:45:51.572" v="2" actId="47"/>
        <pc:sldMkLst>
          <pc:docMk/>
          <pc:sldMk cId="3293317870" sldId="284"/>
        </pc:sldMkLst>
      </pc:sldChg>
      <pc:sldChg chg="del">
        <pc:chgData name="Nick Cassidy" userId="04aadb54-5065-413d-a1dd-47b5f6cd7bb7" providerId="ADAL" clId="{08FFA7FC-72D4-48CC-BB9C-A0E6C4D87518}" dt="2025-06-09T14:45:51.572" v="2" actId="47"/>
        <pc:sldMkLst>
          <pc:docMk/>
          <pc:sldMk cId="1208900393" sldId="285"/>
        </pc:sldMkLst>
      </pc:sldChg>
      <pc:sldChg chg="del">
        <pc:chgData name="Nick Cassidy" userId="04aadb54-5065-413d-a1dd-47b5f6cd7bb7" providerId="ADAL" clId="{08FFA7FC-72D4-48CC-BB9C-A0E6C4D87518}" dt="2025-06-09T14:45:51.572" v="2" actId="47"/>
        <pc:sldMkLst>
          <pc:docMk/>
          <pc:sldMk cId="3393129677" sldId="286"/>
        </pc:sldMkLst>
      </pc:sldChg>
      <pc:sldChg chg="del">
        <pc:chgData name="Nick Cassidy" userId="04aadb54-5065-413d-a1dd-47b5f6cd7bb7" providerId="ADAL" clId="{08FFA7FC-72D4-48CC-BB9C-A0E6C4D87518}" dt="2025-06-09T14:45:51.572" v="2" actId="47"/>
        <pc:sldMkLst>
          <pc:docMk/>
          <pc:sldMk cId="4114816595" sldId="287"/>
        </pc:sldMkLst>
      </pc:sldChg>
      <pc:sldChg chg="del">
        <pc:chgData name="Nick Cassidy" userId="04aadb54-5065-413d-a1dd-47b5f6cd7bb7" providerId="ADAL" clId="{08FFA7FC-72D4-48CC-BB9C-A0E6C4D87518}" dt="2025-06-09T14:45:51.572" v="2" actId="47"/>
        <pc:sldMkLst>
          <pc:docMk/>
          <pc:sldMk cId="3474896578" sldId="288"/>
        </pc:sldMkLst>
      </pc:sldChg>
      <pc:sldChg chg="del">
        <pc:chgData name="Nick Cassidy" userId="04aadb54-5065-413d-a1dd-47b5f6cd7bb7" providerId="ADAL" clId="{08FFA7FC-72D4-48CC-BB9C-A0E6C4D87518}" dt="2025-06-09T14:45:41.228" v="0" actId="47"/>
        <pc:sldMkLst>
          <pc:docMk/>
          <pc:sldMk cId="3351024727" sldId="291"/>
        </pc:sldMkLst>
      </pc:sldChg>
      <pc:sldChg chg="del">
        <pc:chgData name="Nick Cassidy" userId="04aadb54-5065-413d-a1dd-47b5f6cd7bb7" providerId="ADAL" clId="{08FFA7FC-72D4-48CC-BB9C-A0E6C4D87518}" dt="2025-06-09T14:45:41.228" v="0" actId="47"/>
        <pc:sldMkLst>
          <pc:docMk/>
          <pc:sldMk cId="4035339237" sldId="292"/>
        </pc:sldMkLst>
      </pc:sldChg>
      <pc:sldChg chg="del">
        <pc:chgData name="Nick Cassidy" userId="04aadb54-5065-413d-a1dd-47b5f6cd7bb7" providerId="ADAL" clId="{08FFA7FC-72D4-48CC-BB9C-A0E6C4D87518}" dt="2025-06-09T14:45:41.228" v="0" actId="47"/>
        <pc:sldMkLst>
          <pc:docMk/>
          <pc:sldMk cId="794571109" sldId="293"/>
        </pc:sldMkLst>
      </pc:sldChg>
      <pc:sldChg chg="del">
        <pc:chgData name="Nick Cassidy" userId="04aadb54-5065-413d-a1dd-47b5f6cd7bb7" providerId="ADAL" clId="{08FFA7FC-72D4-48CC-BB9C-A0E6C4D87518}" dt="2025-06-09T14:45:44.311" v="1" actId="47"/>
        <pc:sldMkLst>
          <pc:docMk/>
          <pc:sldMk cId="3417170583" sldId="2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41D58A-B7CC-4575-8BD8-B8D6AD1AC4DE}" type="datetimeFigureOut">
              <a:rPr lang="en-GB" smtClean="0"/>
              <a:t>09/06/2025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A5508B8-1FA7-42AC-B718-2D3C6335A572}" type="slidenum">
              <a:rPr lang="en-GB" smtClean="0"/>
              <a:t>‹#›</a:t>
            </a:fld>
            <a:endParaRPr lang="en-GB"/>
          </a:p>
        </p:txBody>
      </p:sp>
    </p:spTree>
    <p:extLst>
      <p:ext uri="{BB962C8B-B14F-4D97-AF65-F5344CB8AC3E}">
        <p14:creationId xmlns:p14="http://schemas.microsoft.com/office/powerpoint/2010/main" val="732834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Purpose – overview, refresher, and examples of how it could be used. Hear your thoughts</a:t>
            </a:r>
          </a:p>
        </p:txBody>
      </p:sp>
      <p:sp>
        <p:nvSpPr>
          <p:cNvPr id="4" name="Slide Number Placeholder 3"/>
          <p:cNvSpPr>
            <a:spLocks noGrp="1"/>
          </p:cNvSpPr>
          <p:nvPr>
            <p:ph type="sldNum" sz="quarter" idx="5"/>
          </p:nvPr>
        </p:nvSpPr>
        <p:spPr/>
        <p:txBody>
          <a:bodyPr/>
          <a:lstStyle/>
          <a:p>
            <a:fld id="{2A5508B8-1FA7-42AC-B718-2D3C6335A572}" type="slidenum">
              <a:rPr lang="en-GB" smtClean="0"/>
              <a:t>1</a:t>
            </a:fld>
            <a:endParaRPr lang="en-GB"/>
          </a:p>
        </p:txBody>
      </p:sp>
    </p:spTree>
    <p:extLst>
      <p:ext uri="{BB962C8B-B14F-4D97-AF65-F5344CB8AC3E}">
        <p14:creationId xmlns:p14="http://schemas.microsoft.com/office/powerpoint/2010/main" val="1648636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-Core measures cover whole life cycle and all communities and community groups</a:t>
            </a:r>
          </a:p>
          <a:p>
            <a:r>
              <a:rPr lang="en-GB"/>
              <a:t>-A consistent data set</a:t>
            </a:r>
          </a:p>
          <a:p>
            <a:r>
              <a:rPr lang="en-GB"/>
              <a:t>-Does a lot of advanced analysis for you</a:t>
            </a:r>
          </a:p>
        </p:txBody>
      </p:sp>
      <p:sp>
        <p:nvSpPr>
          <p:cNvPr id="4" name="Slide Number Placeholder 3"/>
          <p:cNvSpPr>
            <a:spLocks noGrp="1"/>
          </p:cNvSpPr>
          <p:nvPr>
            <p:ph type="sldNum" sz="quarter" idx="5"/>
          </p:nvPr>
        </p:nvSpPr>
        <p:spPr/>
        <p:txBody>
          <a:bodyPr/>
          <a:lstStyle/>
          <a:p>
            <a:fld id="{2A5508B8-1FA7-42AC-B718-2D3C6335A572}" type="slidenum">
              <a:rPr lang="en-GB" smtClean="0"/>
              <a:t>2</a:t>
            </a:fld>
            <a:endParaRPr lang="en-GB"/>
          </a:p>
        </p:txBody>
      </p:sp>
    </p:spTree>
    <p:extLst>
      <p:ext uri="{BB962C8B-B14F-4D97-AF65-F5344CB8AC3E}">
        <p14:creationId xmlns:p14="http://schemas.microsoft.com/office/powerpoint/2010/main" val="2021855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Idea is to cover the whole life course and range of outcomes.</a:t>
            </a:r>
          </a:p>
          <a:p>
            <a:r>
              <a:rPr lang="en-GB"/>
              <a:t>Measures were developed with CP Partners – criteria for inclusion</a:t>
            </a:r>
          </a:p>
          <a:p>
            <a:r>
              <a:rPr lang="en-GB"/>
              <a:t>This is the original set and have been amended over the years – we know there are gaps inc. data lag.</a:t>
            </a:r>
          </a:p>
          <a:p>
            <a:r>
              <a:rPr lang="en-GB"/>
              <a:t>As much as possible cover small areas, not just full CPP</a:t>
            </a:r>
          </a:p>
        </p:txBody>
      </p:sp>
      <p:sp>
        <p:nvSpPr>
          <p:cNvPr id="4" name="Slide Number Placeholder 3"/>
          <p:cNvSpPr>
            <a:spLocks noGrp="1"/>
          </p:cNvSpPr>
          <p:nvPr>
            <p:ph type="sldNum" sz="quarter" idx="5"/>
          </p:nvPr>
        </p:nvSpPr>
        <p:spPr/>
        <p:txBody>
          <a:bodyPr/>
          <a:lstStyle/>
          <a:p>
            <a:fld id="{2A5508B8-1FA7-42AC-B718-2D3C6335A572}" type="slidenum">
              <a:rPr lang="en-GB" smtClean="0"/>
              <a:t>3</a:t>
            </a:fld>
            <a:endParaRPr lang="en-GB"/>
          </a:p>
        </p:txBody>
      </p:sp>
    </p:spTree>
    <p:extLst>
      <p:ext uri="{BB962C8B-B14F-4D97-AF65-F5344CB8AC3E}">
        <p14:creationId xmlns:p14="http://schemas.microsoft.com/office/powerpoint/2010/main" val="7229128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Both at a glance information and in depth analysis</a:t>
            </a:r>
          </a:p>
          <a:p>
            <a:r>
              <a:rPr lang="en-GB"/>
              <a:t>Focus on change over time</a:t>
            </a:r>
          </a:p>
          <a:p>
            <a:r>
              <a:rPr lang="en-GB"/>
              <a:t>Good/bad performance</a:t>
            </a:r>
          </a:p>
          <a:p>
            <a:r>
              <a:rPr lang="en-GB"/>
              <a:t>Uniquely we have the comparison with similar areas – about learning from others.</a:t>
            </a:r>
          </a:p>
        </p:txBody>
      </p:sp>
      <p:sp>
        <p:nvSpPr>
          <p:cNvPr id="4" name="Slide Number Placeholder 3"/>
          <p:cNvSpPr>
            <a:spLocks noGrp="1"/>
          </p:cNvSpPr>
          <p:nvPr>
            <p:ph type="sldNum" sz="quarter" idx="5"/>
          </p:nvPr>
        </p:nvSpPr>
        <p:spPr/>
        <p:txBody>
          <a:bodyPr/>
          <a:lstStyle/>
          <a:p>
            <a:fld id="{2A5508B8-1FA7-42AC-B718-2D3C6335A572}" type="slidenum">
              <a:rPr lang="en-GB" smtClean="0"/>
              <a:t>4</a:t>
            </a:fld>
            <a:endParaRPr lang="en-GB"/>
          </a:p>
        </p:txBody>
      </p:sp>
    </p:spTree>
    <p:extLst>
      <p:ext uri="{BB962C8B-B14F-4D97-AF65-F5344CB8AC3E}">
        <p14:creationId xmlns:p14="http://schemas.microsoft.com/office/powerpoint/2010/main" val="3000664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2A5508B8-1FA7-42AC-B718-2D3C6335A572}" type="slidenum">
              <a:rPr lang="en-GB" smtClean="0"/>
              <a:t>5</a:t>
            </a:fld>
            <a:endParaRPr lang="en-GB"/>
          </a:p>
        </p:txBody>
      </p:sp>
    </p:spTree>
    <p:extLst>
      <p:ext uri="{BB962C8B-B14F-4D97-AF65-F5344CB8AC3E}">
        <p14:creationId xmlns:p14="http://schemas.microsoft.com/office/powerpoint/2010/main" val="24772367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Lots of other data sources and tools</a:t>
            </a:r>
          </a:p>
          <a:p>
            <a:r>
              <a:rPr lang="en-GB" dirty="0"/>
              <a:t>CPOP is focused on community planning partnerships and what they need</a:t>
            </a:r>
          </a:p>
          <a:p>
            <a:r>
              <a:rPr lang="en-GB" dirty="0"/>
              <a:t>-Selecting, cleaning, presenting key data</a:t>
            </a:r>
          </a:p>
          <a:p>
            <a:r>
              <a:rPr lang="en-GB" dirty="0"/>
              <a:t>-Change over time – measure improvement – including into the future</a:t>
            </a:r>
          </a:p>
          <a:p>
            <a:r>
              <a:rPr lang="en-GB" dirty="0"/>
              <a:t>-Holistic approach (understand performance across multiple indicators), but allows focus on specific areas</a:t>
            </a:r>
          </a:p>
          <a:p>
            <a:r>
              <a:rPr lang="en-GB" dirty="0"/>
              <a:t>-Typology – income, rurality, population groups</a:t>
            </a:r>
          </a:p>
          <a:p>
            <a:endParaRPr lang="en-GB" dirty="0"/>
          </a:p>
        </p:txBody>
      </p:sp>
      <p:sp>
        <p:nvSpPr>
          <p:cNvPr id="4" name="Slide Number Placeholder 3"/>
          <p:cNvSpPr>
            <a:spLocks noGrp="1"/>
          </p:cNvSpPr>
          <p:nvPr>
            <p:ph type="sldNum" sz="quarter" idx="5"/>
          </p:nvPr>
        </p:nvSpPr>
        <p:spPr/>
        <p:txBody>
          <a:bodyPr/>
          <a:lstStyle/>
          <a:p>
            <a:fld id="{2A5508B8-1FA7-42AC-B718-2D3C6335A572}" type="slidenum">
              <a:rPr lang="en-GB" smtClean="0"/>
              <a:t>6</a:t>
            </a:fld>
            <a:endParaRPr lang="en-GB"/>
          </a:p>
        </p:txBody>
      </p:sp>
    </p:spTree>
    <p:extLst>
      <p:ext uri="{BB962C8B-B14F-4D97-AF65-F5344CB8AC3E}">
        <p14:creationId xmlns:p14="http://schemas.microsoft.com/office/powerpoint/2010/main" val="21023146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How and where used</a:t>
            </a:r>
          </a:p>
        </p:txBody>
      </p:sp>
      <p:sp>
        <p:nvSpPr>
          <p:cNvPr id="4" name="Slide Number Placeholder 3"/>
          <p:cNvSpPr>
            <a:spLocks noGrp="1"/>
          </p:cNvSpPr>
          <p:nvPr>
            <p:ph type="sldNum" sz="quarter" idx="5"/>
          </p:nvPr>
        </p:nvSpPr>
        <p:spPr/>
        <p:txBody>
          <a:bodyPr/>
          <a:lstStyle/>
          <a:p>
            <a:fld id="{E8414D86-9E35-40D5-8254-02872BBC370F}" type="slidenum">
              <a:rPr lang="en-GB" smtClean="0"/>
              <a:t>7</a:t>
            </a:fld>
            <a:endParaRPr lang="en-GB"/>
          </a:p>
        </p:txBody>
      </p:sp>
    </p:spTree>
    <p:extLst>
      <p:ext uri="{BB962C8B-B14F-4D97-AF65-F5344CB8AC3E}">
        <p14:creationId xmlns:p14="http://schemas.microsoft.com/office/powerpoint/2010/main" val="36971004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a:t>Use regularly for strategic assessment</a:t>
            </a:r>
          </a:p>
          <a:p>
            <a:pPr marL="171450" indent="-171450">
              <a:buFont typeface="Arial" panose="020B0604020202020204" pitchFamily="34" charset="0"/>
              <a:buChar char="•"/>
            </a:pPr>
            <a:r>
              <a:rPr lang="en-GB"/>
              <a:t>Draw on data and analysis – esp. comparison with similar areas</a:t>
            </a:r>
          </a:p>
          <a:p>
            <a:pPr marL="171450" indent="-171450">
              <a:buFont typeface="Arial" panose="020B0604020202020204" pitchFamily="34" charset="0"/>
              <a:buChar char="•"/>
            </a:pPr>
            <a:r>
              <a:rPr lang="en-GB"/>
              <a:t>Strat Assessments used for prioritisation</a:t>
            </a:r>
          </a:p>
        </p:txBody>
      </p:sp>
      <p:sp>
        <p:nvSpPr>
          <p:cNvPr id="4" name="Slide Number Placeholder 3"/>
          <p:cNvSpPr>
            <a:spLocks noGrp="1"/>
          </p:cNvSpPr>
          <p:nvPr>
            <p:ph type="sldNum" sz="quarter" idx="5"/>
          </p:nvPr>
        </p:nvSpPr>
        <p:spPr/>
        <p:txBody>
          <a:bodyPr/>
          <a:lstStyle/>
          <a:p>
            <a:fld id="{2A5508B8-1FA7-42AC-B718-2D3C6335A572}" type="slidenum">
              <a:rPr lang="en-GB" smtClean="0"/>
              <a:t>8</a:t>
            </a:fld>
            <a:endParaRPr lang="en-GB"/>
          </a:p>
        </p:txBody>
      </p:sp>
    </p:spTree>
    <p:extLst>
      <p:ext uri="{BB962C8B-B14F-4D97-AF65-F5344CB8AC3E}">
        <p14:creationId xmlns:p14="http://schemas.microsoft.com/office/powerpoint/2010/main" val="32010650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To help with his – Fife has their own custom setting in the dashboard , which allows them to compare areas within each strategic area</a:t>
            </a:r>
          </a:p>
        </p:txBody>
      </p:sp>
      <p:sp>
        <p:nvSpPr>
          <p:cNvPr id="4" name="Slide Number Placeholder 3"/>
          <p:cNvSpPr>
            <a:spLocks noGrp="1"/>
          </p:cNvSpPr>
          <p:nvPr>
            <p:ph type="sldNum" sz="quarter" idx="5"/>
          </p:nvPr>
        </p:nvSpPr>
        <p:spPr/>
        <p:txBody>
          <a:bodyPr/>
          <a:lstStyle/>
          <a:p>
            <a:fld id="{2A5508B8-1FA7-42AC-B718-2D3C6335A572}" type="slidenum">
              <a:rPr lang="en-GB" smtClean="0"/>
              <a:t>9</a:t>
            </a:fld>
            <a:endParaRPr lang="en-GB"/>
          </a:p>
        </p:txBody>
      </p:sp>
    </p:spTree>
    <p:extLst>
      <p:ext uri="{BB962C8B-B14F-4D97-AF65-F5344CB8AC3E}">
        <p14:creationId xmlns:p14="http://schemas.microsoft.com/office/powerpoint/2010/main" val="3267213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-Prioritise</a:t>
            </a:r>
          </a:p>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-data from other sources to identify the 2 most vulnerable communities</a:t>
            </a:r>
          </a:p>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-issues including reducing child poverty, improving educational attainment, and improving employment opportunities in better paid jobs</a:t>
            </a:r>
          </a:p>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-Ongoing review</a:t>
            </a:r>
          </a:p>
        </p:txBody>
      </p:sp>
      <p:sp>
        <p:nvSpPr>
          <p:cNvPr id="4" name="Slide Number Placeholder 3"/>
          <p:cNvSpPr>
            <a:spLocks noGrp="1"/>
          </p:cNvSpPr>
          <p:nvPr>
            <p:ph type="sldNum" sz="quarter" idx="5"/>
          </p:nvPr>
        </p:nvSpPr>
        <p:spPr/>
        <p:txBody>
          <a:bodyPr/>
          <a:lstStyle/>
          <a:p>
            <a:fld id="{2A5508B8-1FA7-42AC-B718-2D3C6335A572}" type="slidenum">
              <a:rPr lang="en-GB" smtClean="0"/>
              <a:t>10</a:t>
            </a:fld>
            <a:endParaRPr lang="en-GB"/>
          </a:p>
        </p:txBody>
      </p:sp>
    </p:spTree>
    <p:extLst>
      <p:ext uri="{BB962C8B-B14F-4D97-AF65-F5344CB8AC3E}">
        <p14:creationId xmlns:p14="http://schemas.microsoft.com/office/powerpoint/2010/main" val="34449537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Shaping Places for Wellbeing – national programme between PHS and IS – 7 towns to embed place based approaches</a:t>
            </a:r>
          </a:p>
          <a:p>
            <a:r>
              <a:rPr lang="en-GB"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First step was quantitative profiling</a:t>
            </a:r>
          </a:p>
          <a:p>
            <a:r>
              <a:rPr lang="en-GB" sz="12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Dunoon - https://www.improvementservice.org.uk/__data/assets/pdf_file/0022/48307/Shaping-Places-for-Wellbeing-Dunoon-Profile.pdf </a:t>
            </a:r>
          </a:p>
          <a:p>
            <a:r>
              <a:rPr lang="en-GB" sz="1400" dirty="0">
                <a:effectLst/>
                <a:latin typeface="Calibri" panose="020F0502020204030204" pitchFamily="34" charset="0"/>
                <a:ea typeface="Calibri" panose="020F0502020204030204" pitchFamily="34" charset="0"/>
                <a:cs typeface="Times New Roman" panose="02020603050405020304" pitchFamily="18" charset="0"/>
              </a:rPr>
              <a:t>-Useful as a good data source </a:t>
            </a:r>
          </a:p>
          <a:p>
            <a:r>
              <a:rPr lang="en-GB" sz="1400" dirty="0">
                <a:effectLst/>
                <a:latin typeface="Calibri" panose="020F0502020204030204" pitchFamily="34" charset="0"/>
                <a:ea typeface="Calibri" panose="020F0502020204030204" pitchFamily="34" charset="0"/>
                <a:cs typeface="Times New Roman" panose="02020603050405020304" pitchFamily="18" charset="0"/>
              </a:rPr>
              <a:t>-Wider cohort of PHS colleagues interested in some of the more advanced analysis</a:t>
            </a:r>
          </a:p>
          <a:p>
            <a:endParaRPr lang="en-GB" dirty="0"/>
          </a:p>
        </p:txBody>
      </p:sp>
      <p:sp>
        <p:nvSpPr>
          <p:cNvPr id="4" name="Slide Number Placeholder 3"/>
          <p:cNvSpPr>
            <a:spLocks noGrp="1"/>
          </p:cNvSpPr>
          <p:nvPr>
            <p:ph type="sldNum" sz="quarter" idx="5"/>
          </p:nvPr>
        </p:nvSpPr>
        <p:spPr/>
        <p:txBody>
          <a:bodyPr/>
          <a:lstStyle/>
          <a:p>
            <a:fld id="{2A5508B8-1FA7-42AC-B718-2D3C6335A572}" type="slidenum">
              <a:rPr lang="en-GB" smtClean="0"/>
              <a:t>11</a:t>
            </a:fld>
            <a:endParaRPr lang="en-GB"/>
          </a:p>
        </p:txBody>
      </p:sp>
    </p:spTree>
    <p:extLst>
      <p:ext uri="{BB962C8B-B14F-4D97-AF65-F5344CB8AC3E}">
        <p14:creationId xmlns:p14="http://schemas.microsoft.com/office/powerpoint/2010/main" val="17066698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sz="3200" dirty="0"/>
              <a:t>The CPOP has a range of data both at a CPP level and at a more granular intermediate geography zone and data zone level. One of the key features of the tool is the ability to make comparisons between areas, comparisons over time and to look both at outcomes and progress with these outcomes across the full range of indicators. </a:t>
            </a:r>
          </a:p>
          <a:p>
            <a:pPr marL="171450" indent="-171450">
              <a:buFont typeface="Arial" panose="020B0604020202020204" pitchFamily="34" charset="0"/>
              <a:buChar char="•"/>
            </a:pPr>
            <a:r>
              <a:rPr lang="en-GB" sz="2000" dirty="0"/>
              <a:t>This demo will provide a bit of insight into how the tool can be used to understand your CPP’s performance, explore areas for improvement, and identify other local areas that you may be able to learn from.</a:t>
            </a:r>
          </a:p>
          <a:p>
            <a:pPr marL="171450" indent="-171450">
              <a:buFont typeface="Arial" panose="020B0604020202020204" pitchFamily="34" charset="0"/>
              <a:buChar char="•"/>
            </a:pPr>
            <a:r>
              <a:rPr lang="en-GB" sz="2000" dirty="0"/>
              <a:t>First select your CPP area to explore the tool.</a:t>
            </a:r>
          </a:p>
        </p:txBody>
      </p:sp>
      <p:sp>
        <p:nvSpPr>
          <p:cNvPr id="4" name="Slide Number Placeholder 3"/>
          <p:cNvSpPr>
            <a:spLocks noGrp="1"/>
          </p:cNvSpPr>
          <p:nvPr>
            <p:ph type="sldNum" sz="quarter" idx="5"/>
          </p:nvPr>
        </p:nvSpPr>
        <p:spPr/>
        <p:txBody>
          <a:bodyPr/>
          <a:lstStyle/>
          <a:p>
            <a:fld id="{E8414D86-9E35-40D5-8254-02872BBC370F}" type="slidenum">
              <a:rPr lang="en-GB" smtClean="0"/>
              <a:t>12</a:t>
            </a:fld>
            <a:endParaRPr lang="en-GB"/>
          </a:p>
        </p:txBody>
      </p:sp>
    </p:spTree>
    <p:extLst>
      <p:ext uri="{BB962C8B-B14F-4D97-AF65-F5344CB8AC3E}">
        <p14:creationId xmlns:p14="http://schemas.microsoft.com/office/powerpoint/2010/main" val="10376877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8D308-6DE3-A644-8B20-FA026DAAA8E2}"/>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85747012-11FA-3F4F-A035-BE5ECF39CB2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76CC8BF-F8B8-354C-9B16-028DB28CDC0E}"/>
              </a:ext>
            </a:extLst>
          </p:cNvPr>
          <p:cNvSpPr>
            <a:spLocks noGrp="1"/>
          </p:cNvSpPr>
          <p:nvPr>
            <p:ph type="dt" sz="half" idx="10"/>
          </p:nvPr>
        </p:nvSpPr>
        <p:spPr/>
        <p:txBody>
          <a:bodyPr/>
          <a:lstStyle/>
          <a:p>
            <a:fld id="{08E2A554-AE14-CB41-AE8E-78E7B10B9E21}" type="datetimeFigureOut">
              <a:rPr lang="en-US" smtClean="0"/>
              <a:t>6/9/2025</a:t>
            </a:fld>
            <a:endParaRPr lang="en-US"/>
          </a:p>
        </p:txBody>
      </p:sp>
      <p:sp>
        <p:nvSpPr>
          <p:cNvPr id="5" name="Footer Placeholder 4">
            <a:extLst>
              <a:ext uri="{FF2B5EF4-FFF2-40B4-BE49-F238E27FC236}">
                <a16:creationId xmlns:a16="http://schemas.microsoft.com/office/drawing/2014/main" id="{E2072CFE-8F1C-C743-91AD-3CC626EFD7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1CCCC5-EBAF-AB4C-8647-1E362FB9AC15}"/>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16184166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04FA9-09AF-E448-AECE-04B7759C1FC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CE3C7D0-DC5E-B643-BB1B-87FDDD44C86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388667B-ED58-404F-97F0-8A9179CD3728}"/>
              </a:ext>
            </a:extLst>
          </p:cNvPr>
          <p:cNvSpPr>
            <a:spLocks noGrp="1"/>
          </p:cNvSpPr>
          <p:nvPr>
            <p:ph type="dt" sz="half" idx="10"/>
          </p:nvPr>
        </p:nvSpPr>
        <p:spPr/>
        <p:txBody>
          <a:bodyPr/>
          <a:lstStyle/>
          <a:p>
            <a:fld id="{08E2A554-AE14-CB41-AE8E-78E7B10B9E21}" type="datetimeFigureOut">
              <a:rPr lang="en-US" smtClean="0"/>
              <a:t>6/9/2025</a:t>
            </a:fld>
            <a:endParaRPr lang="en-US"/>
          </a:p>
        </p:txBody>
      </p:sp>
      <p:sp>
        <p:nvSpPr>
          <p:cNvPr id="5" name="Footer Placeholder 4">
            <a:extLst>
              <a:ext uri="{FF2B5EF4-FFF2-40B4-BE49-F238E27FC236}">
                <a16:creationId xmlns:a16="http://schemas.microsoft.com/office/drawing/2014/main" id="{406D2E79-4322-2D4B-8F68-AC2AE4726D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02BE8B-8949-A341-BBF2-4327D7A8663A}"/>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513005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AE5A7-5442-4047-94D5-BB83BB032DFA}"/>
              </a:ext>
            </a:extLst>
          </p:cNvPr>
          <p:cNvSpPr>
            <a:spLocks noGrp="1"/>
          </p:cNvSpPr>
          <p:nvPr>
            <p:ph type="title"/>
          </p:nvPr>
        </p:nvSpPr>
        <p:spPr>
          <a:xfrm>
            <a:off x="623888" y="1709739"/>
            <a:ext cx="7886700" cy="2852737"/>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3A501D7-B946-E942-970E-76227C43C9F4}"/>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F0426C3-8163-C94F-B368-D8DF3EA78599}"/>
              </a:ext>
            </a:extLst>
          </p:cNvPr>
          <p:cNvSpPr>
            <a:spLocks noGrp="1"/>
          </p:cNvSpPr>
          <p:nvPr>
            <p:ph type="dt" sz="half" idx="10"/>
          </p:nvPr>
        </p:nvSpPr>
        <p:spPr/>
        <p:txBody>
          <a:bodyPr/>
          <a:lstStyle/>
          <a:p>
            <a:fld id="{08E2A554-AE14-CB41-AE8E-78E7B10B9E21}" type="datetimeFigureOut">
              <a:rPr lang="en-US" smtClean="0"/>
              <a:t>6/9/2025</a:t>
            </a:fld>
            <a:endParaRPr lang="en-US"/>
          </a:p>
        </p:txBody>
      </p:sp>
      <p:sp>
        <p:nvSpPr>
          <p:cNvPr id="5" name="Footer Placeholder 4">
            <a:extLst>
              <a:ext uri="{FF2B5EF4-FFF2-40B4-BE49-F238E27FC236}">
                <a16:creationId xmlns:a16="http://schemas.microsoft.com/office/drawing/2014/main" id="{084CBD03-A7D7-084F-923A-C999E1230E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93C9D7-33E9-2F43-ADBA-4EF9E0E5C844}"/>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484185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A854D-F550-8B4D-95A1-8CEB7633238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4EB0411-037A-7841-899E-6C70033D92D0}"/>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671F342-B194-B741-8DD3-8D5AC713D6DA}"/>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3B9494E-E385-1640-AC95-FEDA20D1F2F3}"/>
              </a:ext>
            </a:extLst>
          </p:cNvPr>
          <p:cNvSpPr>
            <a:spLocks noGrp="1"/>
          </p:cNvSpPr>
          <p:nvPr>
            <p:ph type="dt" sz="half" idx="10"/>
          </p:nvPr>
        </p:nvSpPr>
        <p:spPr/>
        <p:txBody>
          <a:bodyPr/>
          <a:lstStyle/>
          <a:p>
            <a:fld id="{08E2A554-AE14-CB41-AE8E-78E7B10B9E21}" type="datetimeFigureOut">
              <a:rPr lang="en-US" smtClean="0"/>
              <a:t>6/9/2025</a:t>
            </a:fld>
            <a:endParaRPr lang="en-US"/>
          </a:p>
        </p:txBody>
      </p:sp>
      <p:sp>
        <p:nvSpPr>
          <p:cNvPr id="6" name="Footer Placeholder 5">
            <a:extLst>
              <a:ext uri="{FF2B5EF4-FFF2-40B4-BE49-F238E27FC236}">
                <a16:creationId xmlns:a16="http://schemas.microsoft.com/office/drawing/2014/main" id="{AF759BF0-ABC0-E74B-8619-37B1C24DA3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45DAB4-4F2D-E84F-8C53-4395B8EFCB36}"/>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457629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927E6-7D7E-6B4D-B097-1AEFDF8C48B1}"/>
              </a:ext>
            </a:extLst>
          </p:cNvPr>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0C0749B-865D-AE4F-95F2-3072526F5F9B}"/>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8E2361A8-D4D1-DF48-9CD0-C6048B87FA9E}"/>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AFA8706C-533F-A143-A695-229E4BBBD38D}"/>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2637C2C9-C1F9-D745-9970-80EEEA65811E}"/>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CBF7FAB-7688-C74C-97BB-14FE4897588C}"/>
              </a:ext>
            </a:extLst>
          </p:cNvPr>
          <p:cNvSpPr>
            <a:spLocks noGrp="1"/>
          </p:cNvSpPr>
          <p:nvPr>
            <p:ph type="dt" sz="half" idx="10"/>
          </p:nvPr>
        </p:nvSpPr>
        <p:spPr/>
        <p:txBody>
          <a:bodyPr/>
          <a:lstStyle/>
          <a:p>
            <a:fld id="{08E2A554-AE14-CB41-AE8E-78E7B10B9E21}" type="datetimeFigureOut">
              <a:rPr lang="en-US" smtClean="0"/>
              <a:t>6/9/2025</a:t>
            </a:fld>
            <a:endParaRPr lang="en-US"/>
          </a:p>
        </p:txBody>
      </p:sp>
      <p:sp>
        <p:nvSpPr>
          <p:cNvPr id="8" name="Footer Placeholder 7">
            <a:extLst>
              <a:ext uri="{FF2B5EF4-FFF2-40B4-BE49-F238E27FC236}">
                <a16:creationId xmlns:a16="http://schemas.microsoft.com/office/drawing/2014/main" id="{984B2211-9EA4-BB49-9DE1-CB9E1B6C86C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2A9F22-38D2-7344-9EA6-68C37ACF9AF5}"/>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537389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4007B-C442-3D42-A0C0-D8FC1D0720A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2F5C7BBA-5563-C642-BEB6-7BC128197191}"/>
              </a:ext>
            </a:extLst>
          </p:cNvPr>
          <p:cNvSpPr>
            <a:spLocks noGrp="1"/>
          </p:cNvSpPr>
          <p:nvPr>
            <p:ph type="dt" sz="half" idx="10"/>
          </p:nvPr>
        </p:nvSpPr>
        <p:spPr/>
        <p:txBody>
          <a:bodyPr/>
          <a:lstStyle/>
          <a:p>
            <a:fld id="{08E2A554-AE14-CB41-AE8E-78E7B10B9E21}" type="datetimeFigureOut">
              <a:rPr lang="en-US" smtClean="0"/>
              <a:t>6/9/2025</a:t>
            </a:fld>
            <a:endParaRPr lang="en-US"/>
          </a:p>
        </p:txBody>
      </p:sp>
      <p:sp>
        <p:nvSpPr>
          <p:cNvPr id="4" name="Footer Placeholder 3">
            <a:extLst>
              <a:ext uri="{FF2B5EF4-FFF2-40B4-BE49-F238E27FC236}">
                <a16:creationId xmlns:a16="http://schemas.microsoft.com/office/drawing/2014/main" id="{BA13C05D-137B-3945-97E1-11462E40BB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880BC62-28C4-FD40-B0AD-428A00C45EA9}"/>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488472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F3704D-5676-F141-8E71-06AFE18EC237}"/>
              </a:ext>
            </a:extLst>
          </p:cNvPr>
          <p:cNvSpPr>
            <a:spLocks noGrp="1"/>
          </p:cNvSpPr>
          <p:nvPr>
            <p:ph type="dt" sz="half" idx="10"/>
          </p:nvPr>
        </p:nvSpPr>
        <p:spPr/>
        <p:txBody>
          <a:bodyPr/>
          <a:lstStyle/>
          <a:p>
            <a:fld id="{08E2A554-AE14-CB41-AE8E-78E7B10B9E21}" type="datetimeFigureOut">
              <a:rPr lang="en-US" smtClean="0"/>
              <a:t>6/9/2025</a:t>
            </a:fld>
            <a:endParaRPr lang="en-US"/>
          </a:p>
        </p:txBody>
      </p:sp>
      <p:sp>
        <p:nvSpPr>
          <p:cNvPr id="3" name="Footer Placeholder 2">
            <a:extLst>
              <a:ext uri="{FF2B5EF4-FFF2-40B4-BE49-F238E27FC236}">
                <a16:creationId xmlns:a16="http://schemas.microsoft.com/office/drawing/2014/main" id="{82B7854E-82F3-204E-B308-2871A79351F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990821E-703B-7644-8CC8-561D92A34680}"/>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3124143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AC790-9922-564B-A67F-3442A6D6A151}"/>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7810D2-8B49-1A40-BFF9-84AFDF53BBDF}"/>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1A2F1F2-A441-D347-9E90-2B391302240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76C276A8-BF44-7E4C-AFD2-4B68280870DF}"/>
              </a:ext>
            </a:extLst>
          </p:cNvPr>
          <p:cNvSpPr>
            <a:spLocks noGrp="1"/>
          </p:cNvSpPr>
          <p:nvPr>
            <p:ph type="dt" sz="half" idx="10"/>
          </p:nvPr>
        </p:nvSpPr>
        <p:spPr/>
        <p:txBody>
          <a:bodyPr/>
          <a:lstStyle/>
          <a:p>
            <a:fld id="{08E2A554-AE14-CB41-AE8E-78E7B10B9E21}" type="datetimeFigureOut">
              <a:rPr lang="en-US" smtClean="0"/>
              <a:t>6/9/2025</a:t>
            </a:fld>
            <a:endParaRPr lang="en-US"/>
          </a:p>
        </p:txBody>
      </p:sp>
      <p:sp>
        <p:nvSpPr>
          <p:cNvPr id="6" name="Footer Placeholder 5">
            <a:extLst>
              <a:ext uri="{FF2B5EF4-FFF2-40B4-BE49-F238E27FC236}">
                <a16:creationId xmlns:a16="http://schemas.microsoft.com/office/drawing/2014/main" id="{58790607-3643-0845-A596-9EC31BDBE8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A41BAC-FD7F-B54A-B655-E3BC1FC32F08}"/>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3338553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8A8CF-AD05-104B-AB19-2D7A0AF3B3F0}"/>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501FB30-2C82-4246-8AED-EA11BFE15737}"/>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56C53133-7729-B346-85E3-59A75DD1A9A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508ECD8A-8F26-FA42-9ED5-A2FDD350D14A}"/>
              </a:ext>
            </a:extLst>
          </p:cNvPr>
          <p:cNvSpPr>
            <a:spLocks noGrp="1"/>
          </p:cNvSpPr>
          <p:nvPr>
            <p:ph type="dt" sz="half" idx="10"/>
          </p:nvPr>
        </p:nvSpPr>
        <p:spPr/>
        <p:txBody>
          <a:bodyPr/>
          <a:lstStyle/>
          <a:p>
            <a:fld id="{08E2A554-AE14-CB41-AE8E-78E7B10B9E21}" type="datetimeFigureOut">
              <a:rPr lang="en-US" smtClean="0"/>
              <a:t>6/9/2025</a:t>
            </a:fld>
            <a:endParaRPr lang="en-US"/>
          </a:p>
        </p:txBody>
      </p:sp>
      <p:sp>
        <p:nvSpPr>
          <p:cNvPr id="6" name="Footer Placeholder 5">
            <a:extLst>
              <a:ext uri="{FF2B5EF4-FFF2-40B4-BE49-F238E27FC236}">
                <a16:creationId xmlns:a16="http://schemas.microsoft.com/office/drawing/2014/main" id="{9CE647D4-81DB-EB45-894E-12E24C8B7D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AE4141-99FF-4348-92EF-0D4CF537EABE}"/>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1313668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87466-8C41-9B44-9C5B-2AB60387884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762D338-BE7F-6A4D-B250-7BB833CED82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F6142CA-431E-5A41-899B-4621ABAB5B14}"/>
              </a:ext>
            </a:extLst>
          </p:cNvPr>
          <p:cNvSpPr>
            <a:spLocks noGrp="1"/>
          </p:cNvSpPr>
          <p:nvPr>
            <p:ph type="dt" sz="half" idx="10"/>
          </p:nvPr>
        </p:nvSpPr>
        <p:spPr/>
        <p:txBody>
          <a:bodyPr/>
          <a:lstStyle/>
          <a:p>
            <a:fld id="{08E2A554-AE14-CB41-AE8E-78E7B10B9E21}" type="datetimeFigureOut">
              <a:rPr lang="en-US" smtClean="0"/>
              <a:t>6/9/2025</a:t>
            </a:fld>
            <a:endParaRPr lang="en-US"/>
          </a:p>
        </p:txBody>
      </p:sp>
      <p:sp>
        <p:nvSpPr>
          <p:cNvPr id="5" name="Footer Placeholder 4">
            <a:extLst>
              <a:ext uri="{FF2B5EF4-FFF2-40B4-BE49-F238E27FC236}">
                <a16:creationId xmlns:a16="http://schemas.microsoft.com/office/drawing/2014/main" id="{2B14E578-694A-F94C-BFE5-E0C38CAC71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DCC8AE-5D76-8349-9869-B6FB2E3100DD}"/>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3547263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1B448F7-26B8-CF44-AEE9-7F4B54AA68A2}"/>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83A143A-B5B4-7F41-AEED-D313832AD365}"/>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DAB2FFD-CE83-8844-B0E0-8D9839CFE0AA}"/>
              </a:ext>
            </a:extLst>
          </p:cNvPr>
          <p:cNvSpPr>
            <a:spLocks noGrp="1"/>
          </p:cNvSpPr>
          <p:nvPr>
            <p:ph type="dt" sz="half" idx="10"/>
          </p:nvPr>
        </p:nvSpPr>
        <p:spPr/>
        <p:txBody>
          <a:bodyPr/>
          <a:lstStyle/>
          <a:p>
            <a:fld id="{08E2A554-AE14-CB41-AE8E-78E7B10B9E21}" type="datetimeFigureOut">
              <a:rPr lang="en-US" smtClean="0"/>
              <a:t>6/9/2025</a:t>
            </a:fld>
            <a:endParaRPr lang="en-US"/>
          </a:p>
        </p:txBody>
      </p:sp>
      <p:sp>
        <p:nvSpPr>
          <p:cNvPr id="5" name="Footer Placeholder 4">
            <a:extLst>
              <a:ext uri="{FF2B5EF4-FFF2-40B4-BE49-F238E27FC236}">
                <a16:creationId xmlns:a16="http://schemas.microsoft.com/office/drawing/2014/main" id="{5DC31EAF-E241-3647-A3EF-F6BC3C1C1D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1CC6D1-0731-4A41-8DCC-B9A6D5244103}"/>
              </a:ext>
            </a:extLst>
          </p:cNvPr>
          <p:cNvSpPr>
            <a:spLocks noGrp="1"/>
          </p:cNvSpPr>
          <p:nvPr>
            <p:ph type="sldNum" sz="quarter" idx="12"/>
          </p:nvPr>
        </p:nvSpPr>
        <p:spPr/>
        <p:txBody>
          <a:bodyPr/>
          <a:lstStyle/>
          <a:p>
            <a:fld id="{F72B1056-3B3C-EB44-975C-54A882B718DE}" type="slidenum">
              <a:rPr lang="en-US" smtClean="0"/>
              <a:t>‹#›</a:t>
            </a:fld>
            <a:endParaRPr lang="en-US"/>
          </a:p>
        </p:txBody>
      </p:sp>
    </p:spTree>
    <p:extLst>
      <p:ext uri="{BB962C8B-B14F-4D97-AF65-F5344CB8AC3E}">
        <p14:creationId xmlns:p14="http://schemas.microsoft.com/office/powerpoint/2010/main" val="3354893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023918-48F6-AF4A-9790-0445D3F2A78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38CB8EB-7AA4-4545-9B6E-ADF9EFB8BB3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C3B8B87-F93D-F94F-B20F-2496B56C174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8E2A554-AE14-CB41-AE8E-78E7B10B9E21}" type="datetimeFigureOut">
              <a:rPr lang="en-US" smtClean="0"/>
              <a:t>6/9/2025</a:t>
            </a:fld>
            <a:endParaRPr lang="en-US"/>
          </a:p>
        </p:txBody>
      </p:sp>
      <p:sp>
        <p:nvSpPr>
          <p:cNvPr id="5" name="Footer Placeholder 4">
            <a:extLst>
              <a:ext uri="{FF2B5EF4-FFF2-40B4-BE49-F238E27FC236}">
                <a16:creationId xmlns:a16="http://schemas.microsoft.com/office/drawing/2014/main" id="{B6C2A2DF-5987-9D42-88D0-21534A9DD4E8}"/>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D5BD33D-1FF5-D248-9230-1206E219396C}"/>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72B1056-3B3C-EB44-975C-54A882B718DE}" type="slidenum">
              <a:rPr lang="en-US" smtClean="0"/>
              <a:t>‹#›</a:t>
            </a:fld>
            <a:endParaRPr lang="en-US"/>
          </a:p>
        </p:txBody>
      </p:sp>
    </p:spTree>
    <p:extLst>
      <p:ext uri="{BB962C8B-B14F-4D97-AF65-F5344CB8AC3E}">
        <p14:creationId xmlns:p14="http://schemas.microsoft.com/office/powerpoint/2010/main" val="320363934"/>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jpeg"/><Relationship Id="rId7"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1.emf"/></Relationships>
</file>

<file path=ppt/slides/_rels/slide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riangle 8">
            <a:extLst>
              <a:ext uri="{FF2B5EF4-FFF2-40B4-BE49-F238E27FC236}">
                <a16:creationId xmlns:a16="http://schemas.microsoft.com/office/drawing/2014/main" id="{97915D97-B1D3-1C4F-AB15-DB7B1C539A03}"/>
              </a:ext>
            </a:extLst>
          </p:cNvPr>
          <p:cNvSpPr/>
          <p:nvPr/>
        </p:nvSpPr>
        <p:spPr>
          <a:xfrm rot="5400000">
            <a:off x="488230" y="2749232"/>
            <a:ext cx="6877052" cy="1340481"/>
          </a:xfrm>
          <a:prstGeom prst="triangle">
            <a:avLst/>
          </a:prstGeom>
          <a:solidFill>
            <a:srgbClr val="D1222B"/>
          </a:solidFill>
          <a:ln w="28575">
            <a:solidFill>
              <a:srgbClr val="D1222B">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7A96C94-5274-3F4D-9C67-9934585AB39F}"/>
              </a:ext>
            </a:extLst>
          </p:cNvPr>
          <p:cNvSpPr/>
          <p:nvPr/>
        </p:nvSpPr>
        <p:spPr>
          <a:xfrm>
            <a:off x="1" y="0"/>
            <a:ext cx="3269398" cy="6858000"/>
          </a:xfrm>
          <a:prstGeom prst="rect">
            <a:avLst/>
          </a:prstGeom>
          <a:solidFill>
            <a:srgbClr val="0032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9B4CDC7-F157-EE43-81A7-294E115357CF}"/>
              </a:ext>
            </a:extLst>
          </p:cNvPr>
          <p:cNvPicPr>
            <a:picLocks noChangeAspect="1"/>
          </p:cNvPicPr>
          <p:nvPr/>
        </p:nvPicPr>
        <p:blipFill>
          <a:blip r:embed="rId3"/>
          <a:stretch>
            <a:fillRect/>
          </a:stretch>
        </p:blipFill>
        <p:spPr>
          <a:xfrm>
            <a:off x="480766" y="2616462"/>
            <a:ext cx="2609075" cy="1313019"/>
          </a:xfrm>
          <a:prstGeom prst="rect">
            <a:avLst/>
          </a:prstGeom>
        </p:spPr>
      </p:pic>
      <p:sp>
        <p:nvSpPr>
          <p:cNvPr id="8" name="TextBox 7">
            <a:extLst>
              <a:ext uri="{FF2B5EF4-FFF2-40B4-BE49-F238E27FC236}">
                <a16:creationId xmlns:a16="http://schemas.microsoft.com/office/drawing/2014/main" id="{3F936AEF-BA07-9443-8793-A9A49485A72C}"/>
              </a:ext>
            </a:extLst>
          </p:cNvPr>
          <p:cNvSpPr txBox="1"/>
          <p:nvPr/>
        </p:nvSpPr>
        <p:spPr>
          <a:xfrm>
            <a:off x="461912" y="4405384"/>
            <a:ext cx="2895280" cy="877163"/>
          </a:xfrm>
          <a:prstGeom prst="rect">
            <a:avLst/>
          </a:prstGeom>
          <a:noFill/>
        </p:spPr>
        <p:txBody>
          <a:bodyPr wrap="square" rtlCol="0">
            <a:spAutoFit/>
          </a:bodyPr>
          <a:lstStyle/>
          <a:p>
            <a:r>
              <a:rPr lang="en-US" sz="1700" i="1">
                <a:solidFill>
                  <a:schemeClr val="bg1"/>
                </a:solidFill>
                <a:latin typeface="Helvetica" pitchFamily="2" charset="0"/>
                <a:cs typeface="Arial" panose="020B0604020202020204" pitchFamily="34" charset="0"/>
              </a:rPr>
              <a:t>The ‘go to’ </a:t>
            </a:r>
            <a:r>
              <a:rPr lang="en-GB" sz="1700" i="1">
                <a:solidFill>
                  <a:schemeClr val="bg1"/>
                </a:solidFill>
                <a:latin typeface="Helvetica" pitchFamily="2" charset="0"/>
                <a:cs typeface="Arial" panose="020B0604020202020204" pitchFamily="34" charset="0"/>
              </a:rPr>
              <a:t>organisation</a:t>
            </a:r>
            <a:r>
              <a:rPr lang="en-US" sz="1700" i="1">
                <a:solidFill>
                  <a:schemeClr val="bg1"/>
                </a:solidFill>
                <a:latin typeface="Helvetica" pitchFamily="2" charset="0"/>
                <a:cs typeface="Arial" panose="020B0604020202020204" pitchFamily="34" charset="0"/>
              </a:rPr>
              <a:t> for Local Government improvement in Scotland</a:t>
            </a:r>
          </a:p>
        </p:txBody>
      </p:sp>
      <p:cxnSp>
        <p:nvCxnSpPr>
          <p:cNvPr id="17" name="Straight Connector 16">
            <a:extLst>
              <a:ext uri="{FF2B5EF4-FFF2-40B4-BE49-F238E27FC236}">
                <a16:creationId xmlns:a16="http://schemas.microsoft.com/office/drawing/2014/main" id="{77EED639-697D-B04A-AD5F-D244687083BB}"/>
              </a:ext>
            </a:extLst>
          </p:cNvPr>
          <p:cNvCxnSpPr>
            <a:cxnSpLocks/>
          </p:cNvCxnSpPr>
          <p:nvPr/>
        </p:nvCxnSpPr>
        <p:spPr>
          <a:xfrm>
            <a:off x="461912" y="4163407"/>
            <a:ext cx="260907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Triangle 24">
            <a:extLst>
              <a:ext uri="{FF2B5EF4-FFF2-40B4-BE49-F238E27FC236}">
                <a16:creationId xmlns:a16="http://schemas.microsoft.com/office/drawing/2014/main" id="{9A6DEA15-8065-4B49-A09D-A22E57EDB3C0}"/>
              </a:ext>
            </a:extLst>
          </p:cNvPr>
          <p:cNvSpPr/>
          <p:nvPr/>
        </p:nvSpPr>
        <p:spPr>
          <a:xfrm rot="5400000">
            <a:off x="390099" y="2847363"/>
            <a:ext cx="6877053" cy="1144220"/>
          </a:xfrm>
          <a:prstGeom prst="triangle">
            <a:avLst/>
          </a:prstGeom>
          <a:solidFill>
            <a:srgbClr val="00324F"/>
          </a:solidFill>
          <a:ln w="28575">
            <a:solidFill>
              <a:srgbClr val="00324F">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A17B2B6E-D4AE-B51D-D9A2-536B51280D00}"/>
              </a:ext>
            </a:extLst>
          </p:cNvPr>
          <p:cNvSpPr txBox="1"/>
          <p:nvPr/>
        </p:nvSpPr>
        <p:spPr>
          <a:xfrm>
            <a:off x="4782524" y="2815192"/>
            <a:ext cx="4232782" cy="1508105"/>
          </a:xfrm>
          <a:prstGeom prst="rect">
            <a:avLst/>
          </a:prstGeom>
          <a:noFill/>
        </p:spPr>
        <p:txBody>
          <a:bodyPr wrap="square" rtlCol="0">
            <a:spAutoFit/>
          </a:bodyPr>
          <a:lstStyle/>
          <a:p>
            <a:r>
              <a:rPr lang="en-GB" sz="2800" b="1" dirty="0"/>
              <a:t>Community Planning Outcomes Profile</a:t>
            </a:r>
          </a:p>
          <a:p>
            <a:endParaRPr lang="en-GB" dirty="0"/>
          </a:p>
          <a:p>
            <a:r>
              <a:rPr lang="en-GB" dirty="0"/>
              <a:t>Nick Cassidy – Research Manager</a:t>
            </a:r>
          </a:p>
        </p:txBody>
      </p:sp>
    </p:spTree>
    <p:extLst>
      <p:ext uri="{BB962C8B-B14F-4D97-AF65-F5344CB8AC3E}">
        <p14:creationId xmlns:p14="http://schemas.microsoft.com/office/powerpoint/2010/main" val="31853318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7118014-C94D-0C4F-EBE6-C8D356A652DB}"/>
              </a:ext>
            </a:extLst>
          </p:cNvPr>
          <p:cNvSpPr txBox="1"/>
          <p:nvPr/>
        </p:nvSpPr>
        <p:spPr>
          <a:xfrm>
            <a:off x="116401" y="339044"/>
            <a:ext cx="4576194" cy="523220"/>
          </a:xfrm>
          <a:prstGeom prst="rect">
            <a:avLst/>
          </a:prstGeom>
          <a:noFill/>
        </p:spPr>
        <p:txBody>
          <a:bodyPr wrap="square">
            <a:spAutoFit/>
          </a:bodyPr>
          <a:lstStyle/>
          <a:p>
            <a:pPr algn="l"/>
            <a:r>
              <a:rPr lang="en-GB" sz="2800" b="1" i="0">
                <a:solidFill>
                  <a:srgbClr val="003A60"/>
                </a:solidFill>
                <a:effectLst/>
                <a:latin typeface="proxima-nova"/>
              </a:rPr>
              <a:t>What is the profile?</a:t>
            </a:r>
          </a:p>
        </p:txBody>
      </p:sp>
      <p:sp>
        <p:nvSpPr>
          <p:cNvPr id="6" name="TextBox 5">
            <a:extLst>
              <a:ext uri="{FF2B5EF4-FFF2-40B4-BE49-F238E27FC236}">
                <a16:creationId xmlns:a16="http://schemas.microsoft.com/office/drawing/2014/main" id="{399753D1-2268-3D27-CC44-3EC56AAB2365}"/>
              </a:ext>
            </a:extLst>
          </p:cNvPr>
          <p:cNvSpPr txBox="1"/>
          <p:nvPr/>
        </p:nvSpPr>
        <p:spPr>
          <a:xfrm>
            <a:off x="276429" y="1182535"/>
            <a:ext cx="7984702" cy="3477875"/>
          </a:xfrm>
          <a:prstGeom prst="rect">
            <a:avLst/>
          </a:prstGeom>
          <a:noFill/>
        </p:spPr>
        <p:txBody>
          <a:bodyPr wrap="square">
            <a:spAutoFit/>
          </a:bodyPr>
          <a:lstStyle/>
          <a:p>
            <a:pPr marL="285750" indent="-285750" algn="l">
              <a:buFont typeface="Arial" panose="020B0604020202020204" pitchFamily="34" charset="0"/>
              <a:buChar char="•"/>
            </a:pPr>
            <a:r>
              <a:rPr lang="en-GB" sz="2000" b="0" i="0">
                <a:solidFill>
                  <a:srgbClr val="003A60"/>
                </a:solidFill>
                <a:effectLst/>
                <a:latin typeface="proxima-nova"/>
              </a:rPr>
              <a:t>A tool to help you assess if the lives of people in your community are improving</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A set of </a:t>
            </a:r>
            <a:r>
              <a:rPr lang="en-GB" sz="2000" b="1" i="0" u="sng">
                <a:solidFill>
                  <a:srgbClr val="003A60"/>
                </a:solidFill>
                <a:effectLst/>
                <a:latin typeface="proxima-nova"/>
              </a:rPr>
              <a:t>core measures on important life outcomes </a:t>
            </a:r>
            <a:r>
              <a:rPr lang="en-GB" sz="2000" b="0" i="0">
                <a:solidFill>
                  <a:srgbClr val="003A60"/>
                </a:solidFill>
                <a:effectLst/>
                <a:latin typeface="proxima-nova"/>
              </a:rPr>
              <a:t>including early years, older people, safer/stronger communities, health and wellbeing, and engagement with local communities</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A consistent basis for measuring outcomes and inequalities of outcome in your area</a:t>
            </a:r>
          </a:p>
          <a:p>
            <a:pPr marL="285750" indent="-285750" algn="l">
              <a:buFont typeface="Arial" panose="020B0604020202020204" pitchFamily="34" charset="0"/>
              <a:buChar char="•"/>
            </a:pPr>
            <a:endParaRPr lang="en-GB" sz="2000">
              <a:solidFill>
                <a:srgbClr val="003A60"/>
              </a:solidFill>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An analysis tool</a:t>
            </a:r>
          </a:p>
        </p:txBody>
      </p:sp>
      <p:pic>
        <p:nvPicPr>
          <p:cNvPr id="2052" name="Picture 4">
            <a:extLst>
              <a:ext uri="{FF2B5EF4-FFF2-40B4-BE49-F238E27FC236}">
                <a16:creationId xmlns:a16="http://schemas.microsoft.com/office/drawing/2014/main" id="{7FD4C03A-7D85-BFEF-0920-0AA794B558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3166" b="15513"/>
          <a:stretch/>
        </p:blipFill>
        <p:spPr bwMode="auto">
          <a:xfrm>
            <a:off x="4692594" y="3780621"/>
            <a:ext cx="4451405" cy="23810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82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00557" y="263776"/>
            <a:ext cx="8531006" cy="60003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0030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860432A-101F-B3FE-9AB7-F7F14039022A}"/>
              </a:ext>
            </a:extLst>
          </p:cNvPr>
          <p:cNvSpPr txBox="1"/>
          <p:nvPr/>
        </p:nvSpPr>
        <p:spPr>
          <a:xfrm>
            <a:off x="302756" y="360342"/>
            <a:ext cx="5686494" cy="523220"/>
          </a:xfrm>
          <a:prstGeom prst="rect">
            <a:avLst/>
          </a:prstGeom>
          <a:noFill/>
        </p:spPr>
        <p:txBody>
          <a:bodyPr wrap="square">
            <a:spAutoFit/>
          </a:bodyPr>
          <a:lstStyle/>
          <a:p>
            <a:pPr algn="l"/>
            <a:r>
              <a:rPr lang="en-GB" sz="2800" b="1" i="0">
                <a:solidFill>
                  <a:srgbClr val="003A60"/>
                </a:solidFill>
                <a:effectLst/>
                <a:latin typeface="proxima-nova"/>
              </a:rPr>
              <a:t>What does the profile tell you?</a:t>
            </a:r>
          </a:p>
        </p:txBody>
      </p:sp>
      <p:sp>
        <p:nvSpPr>
          <p:cNvPr id="6" name="TextBox 5">
            <a:extLst>
              <a:ext uri="{FF2B5EF4-FFF2-40B4-BE49-F238E27FC236}">
                <a16:creationId xmlns:a16="http://schemas.microsoft.com/office/drawing/2014/main" id="{733527DA-9B9C-686D-B18E-BDDBBAE098D0}"/>
              </a:ext>
            </a:extLst>
          </p:cNvPr>
          <p:cNvSpPr txBox="1"/>
          <p:nvPr/>
        </p:nvSpPr>
        <p:spPr>
          <a:xfrm>
            <a:off x="116401" y="1254458"/>
            <a:ext cx="5872850" cy="4401205"/>
          </a:xfrm>
          <a:prstGeom prst="rect">
            <a:avLst/>
          </a:prstGeom>
          <a:noFill/>
        </p:spPr>
        <p:txBody>
          <a:bodyPr wrap="square">
            <a:spAutoFit/>
          </a:bodyPr>
          <a:lstStyle/>
          <a:p>
            <a:pPr algn="l"/>
            <a:r>
              <a:rPr lang="en-GB" sz="2000" b="0" i="0">
                <a:solidFill>
                  <a:srgbClr val="003A60"/>
                </a:solidFill>
                <a:effectLst/>
                <a:latin typeface="proxima-nova"/>
              </a:rPr>
              <a:t>At a glance and in-depth analysis on:</a:t>
            </a:r>
          </a:p>
          <a:p>
            <a:pPr algn="l"/>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The overall pattern of outcomes in your area and whether people's lives are improving</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Whether inequality is increasing or decreasing over time</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Which communities are faring well or not well for your areas and for similar communities across Scotland</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Identify similar areas elsewhere in Scotland, creating opportunities for learning</a:t>
            </a:r>
          </a:p>
        </p:txBody>
      </p:sp>
      <p:pic>
        <p:nvPicPr>
          <p:cNvPr id="3074" name="Picture 2" descr="Shallow Focus Photo of a Person Holding Magnifying Glass · Free Stock Photo">
            <a:extLst>
              <a:ext uri="{FF2B5EF4-FFF2-40B4-BE49-F238E27FC236}">
                <a16:creationId xmlns:a16="http://schemas.microsoft.com/office/drawing/2014/main" id="{8F8FF8BA-8C43-0B09-947A-BFCF5FAC6E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9250" y="1276509"/>
            <a:ext cx="2988554" cy="44828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25657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B443C78-6106-25B0-42E8-483A94682A9C}"/>
              </a:ext>
            </a:extLst>
          </p:cNvPr>
          <p:cNvSpPr txBox="1"/>
          <p:nvPr/>
        </p:nvSpPr>
        <p:spPr>
          <a:xfrm>
            <a:off x="467686" y="425417"/>
            <a:ext cx="4576194" cy="523220"/>
          </a:xfrm>
          <a:prstGeom prst="rect">
            <a:avLst/>
          </a:prstGeom>
          <a:noFill/>
        </p:spPr>
        <p:txBody>
          <a:bodyPr wrap="square">
            <a:spAutoFit/>
          </a:bodyPr>
          <a:lstStyle/>
          <a:p>
            <a:pPr algn="l"/>
            <a:r>
              <a:rPr lang="en-GB" sz="2800" b="1" i="0">
                <a:solidFill>
                  <a:srgbClr val="003A60"/>
                </a:solidFill>
                <a:effectLst/>
                <a:latin typeface="proxima-nova"/>
              </a:rPr>
              <a:t>How can the profile be used?</a:t>
            </a:r>
          </a:p>
        </p:txBody>
      </p:sp>
      <p:sp>
        <p:nvSpPr>
          <p:cNvPr id="6" name="TextBox 5">
            <a:extLst>
              <a:ext uri="{FF2B5EF4-FFF2-40B4-BE49-F238E27FC236}">
                <a16:creationId xmlns:a16="http://schemas.microsoft.com/office/drawing/2014/main" id="{9B11E317-3F6B-660C-5822-30985EF1B57D}"/>
              </a:ext>
            </a:extLst>
          </p:cNvPr>
          <p:cNvSpPr txBox="1"/>
          <p:nvPr/>
        </p:nvSpPr>
        <p:spPr>
          <a:xfrm>
            <a:off x="522611" y="1625203"/>
            <a:ext cx="8098777" cy="3170099"/>
          </a:xfrm>
          <a:prstGeom prst="rect">
            <a:avLst/>
          </a:prstGeom>
          <a:noFill/>
        </p:spPr>
        <p:txBody>
          <a:bodyPr wrap="square">
            <a:spAutoFit/>
          </a:bodyPr>
          <a:lstStyle/>
          <a:p>
            <a:pPr algn="l"/>
            <a:r>
              <a:rPr lang="en-GB" sz="2000" b="0" i="0">
                <a:solidFill>
                  <a:srgbClr val="003A60"/>
                </a:solidFill>
                <a:effectLst/>
                <a:latin typeface="proxima-nova"/>
              </a:rPr>
              <a:t>To support decision-making by:</a:t>
            </a:r>
          </a:p>
          <a:p>
            <a:pPr algn="l"/>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Stimulating discussion amongst CP boards, partners and local communities</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Increasing the amount of intelligence available about an area</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Complementing professional judgement and local knowledge</a:t>
            </a:r>
          </a:p>
          <a:p>
            <a:pPr marL="285750" indent="-285750" algn="l">
              <a:buFont typeface="Arial" panose="020B0604020202020204" pitchFamily="34" charset="0"/>
              <a:buChar char="•"/>
            </a:pPr>
            <a:endParaRPr lang="en-GB" sz="2000" b="0" i="0">
              <a:solidFill>
                <a:srgbClr val="003A60"/>
              </a:solidFill>
              <a:effectLst/>
              <a:latin typeface="proxima-nova"/>
            </a:endParaRPr>
          </a:p>
          <a:p>
            <a:pPr marL="285750" indent="-285750" algn="l">
              <a:buFont typeface="Arial" panose="020B0604020202020204" pitchFamily="34" charset="0"/>
              <a:buChar char="•"/>
            </a:pPr>
            <a:r>
              <a:rPr lang="en-GB" sz="2000" b="0" i="0">
                <a:solidFill>
                  <a:srgbClr val="003A60"/>
                </a:solidFill>
                <a:effectLst/>
                <a:latin typeface="proxima-nova"/>
              </a:rPr>
              <a:t>Inform the development of Local Outcomes Improvement Plans</a:t>
            </a:r>
          </a:p>
        </p:txBody>
      </p:sp>
    </p:spTree>
    <p:extLst>
      <p:ext uri="{BB962C8B-B14F-4D97-AF65-F5344CB8AC3E}">
        <p14:creationId xmlns:p14="http://schemas.microsoft.com/office/powerpoint/2010/main" val="384464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2" name="Picture 8" descr="NatRecordsScot (@NatRecordsScot) / X">
            <a:extLst>
              <a:ext uri="{FF2B5EF4-FFF2-40B4-BE49-F238E27FC236}">
                <a16:creationId xmlns:a16="http://schemas.microsoft.com/office/drawing/2014/main" id="{0E8D17B6-CA5F-5D38-68A1-85AAF6E19D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7420" y="4607010"/>
            <a:ext cx="1558120" cy="155812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4"/>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745BA2-A770-B3FE-E11C-1C447D7A18A0}"/>
              </a:ext>
            </a:extLst>
          </p:cNvPr>
          <p:cNvSpPr txBox="1"/>
          <p:nvPr/>
        </p:nvSpPr>
        <p:spPr>
          <a:xfrm>
            <a:off x="232811" y="359189"/>
            <a:ext cx="6067338" cy="523220"/>
          </a:xfrm>
          <a:prstGeom prst="rect">
            <a:avLst/>
          </a:prstGeom>
          <a:noFill/>
        </p:spPr>
        <p:txBody>
          <a:bodyPr wrap="square">
            <a:spAutoFit/>
          </a:bodyPr>
          <a:lstStyle/>
          <a:p>
            <a:pPr algn="l"/>
            <a:r>
              <a:rPr lang="en-GB" sz="2800" b="1" i="0">
                <a:solidFill>
                  <a:srgbClr val="003A60"/>
                </a:solidFill>
                <a:effectLst/>
                <a:latin typeface="proxima-nova"/>
              </a:rPr>
              <a:t>How is this approach different?</a:t>
            </a:r>
          </a:p>
        </p:txBody>
      </p:sp>
      <p:sp>
        <p:nvSpPr>
          <p:cNvPr id="6" name="TextBox 5">
            <a:extLst>
              <a:ext uri="{FF2B5EF4-FFF2-40B4-BE49-F238E27FC236}">
                <a16:creationId xmlns:a16="http://schemas.microsoft.com/office/drawing/2014/main" id="{FBC524AA-75C8-D82A-9BBE-C54FC04BD7E9}"/>
              </a:ext>
            </a:extLst>
          </p:cNvPr>
          <p:cNvSpPr txBox="1"/>
          <p:nvPr/>
        </p:nvSpPr>
        <p:spPr>
          <a:xfrm>
            <a:off x="248632" y="1207058"/>
            <a:ext cx="8118080" cy="2031325"/>
          </a:xfrm>
          <a:prstGeom prst="rect">
            <a:avLst/>
          </a:prstGeom>
          <a:noFill/>
        </p:spPr>
        <p:txBody>
          <a:bodyPr wrap="square">
            <a:spAutoFit/>
          </a:bodyPr>
          <a:lstStyle/>
          <a:p>
            <a:pPr marL="285750" indent="-285750" algn="l">
              <a:buFont typeface="Arial" panose="020B0604020202020204" pitchFamily="34" charset="0"/>
              <a:buChar char="•"/>
            </a:pPr>
            <a:r>
              <a:rPr lang="en-GB" b="0" i="0">
                <a:solidFill>
                  <a:srgbClr val="003A60"/>
                </a:solidFill>
                <a:effectLst/>
                <a:latin typeface="proxima-nova"/>
              </a:rPr>
              <a:t>Focus: CPPs</a:t>
            </a:r>
          </a:p>
          <a:p>
            <a:pPr marL="285750" indent="-285750" algn="l">
              <a:buFont typeface="Arial" panose="020B0604020202020204" pitchFamily="34" charset="0"/>
              <a:buChar char="•"/>
            </a:pPr>
            <a:r>
              <a:rPr lang="en-GB" b="0" i="0">
                <a:solidFill>
                  <a:srgbClr val="003A60"/>
                </a:solidFill>
                <a:effectLst/>
                <a:latin typeface="proxima-nova"/>
              </a:rPr>
              <a:t>It brings together measures of outcomes and inequality for all 32 CPPs within one profile - and shows how they change over time</a:t>
            </a:r>
          </a:p>
          <a:p>
            <a:pPr marL="285750" indent="-285750" algn="l">
              <a:buFont typeface="Arial" panose="020B0604020202020204" pitchFamily="34" charset="0"/>
              <a:buChar char="•"/>
            </a:pPr>
            <a:r>
              <a:rPr lang="en-GB" b="0" i="0">
                <a:solidFill>
                  <a:srgbClr val="003A60"/>
                </a:solidFill>
                <a:effectLst/>
                <a:latin typeface="proxima-nova"/>
              </a:rPr>
              <a:t>It considers outcomes </a:t>
            </a:r>
            <a:r>
              <a:rPr lang="en-GB" b="1" i="0" u="sng">
                <a:solidFill>
                  <a:srgbClr val="003A60"/>
                </a:solidFill>
                <a:effectLst/>
                <a:latin typeface="proxima-nova"/>
              </a:rPr>
              <a:t>'in the round</a:t>
            </a:r>
            <a:r>
              <a:rPr lang="en-GB" b="0" i="0">
                <a:solidFill>
                  <a:srgbClr val="003A60"/>
                </a:solidFill>
                <a:effectLst/>
                <a:latin typeface="proxima-nova"/>
              </a:rPr>
              <a:t>' as well as individually, encouraging a focus on vulnerable communities where negative outcomes are clustered</a:t>
            </a:r>
          </a:p>
          <a:p>
            <a:pPr marL="285750" indent="-285750" algn="l">
              <a:buFont typeface="Arial" panose="020B0604020202020204" pitchFamily="34" charset="0"/>
              <a:buChar char="•"/>
            </a:pPr>
            <a:r>
              <a:rPr lang="en-GB" b="0" i="0">
                <a:solidFill>
                  <a:srgbClr val="003A60"/>
                </a:solidFill>
                <a:effectLst/>
                <a:latin typeface="proxima-nova"/>
              </a:rPr>
              <a:t>It enables partnerships to compare outcomes for their local communities against </a:t>
            </a:r>
            <a:r>
              <a:rPr lang="en-GB" b="1" i="0" u="sng">
                <a:solidFill>
                  <a:srgbClr val="003A60"/>
                </a:solidFill>
                <a:effectLst/>
                <a:latin typeface="proxima-nova"/>
              </a:rPr>
              <a:t>similar communities across Scotland</a:t>
            </a:r>
          </a:p>
        </p:txBody>
      </p:sp>
      <p:pic>
        <p:nvPicPr>
          <p:cNvPr id="1026" name="Picture 2" descr="Scottish Public Health Observatory (ScotPHO) (@scotpho) / X">
            <a:extLst>
              <a:ext uri="{FF2B5EF4-FFF2-40B4-BE49-F238E27FC236}">
                <a16:creationId xmlns:a16="http://schemas.microsoft.com/office/drawing/2014/main" id="{63347D6C-B8B4-7E6E-F051-3B7ECD84C7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657" y="3231932"/>
            <a:ext cx="2418492" cy="2418492"/>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559F732-6B47-A91D-9D6D-FACC94880FC2}"/>
              </a:ext>
            </a:extLst>
          </p:cNvPr>
          <p:cNvPicPr>
            <a:picLocks noChangeAspect="1"/>
          </p:cNvPicPr>
          <p:nvPr/>
        </p:nvPicPr>
        <p:blipFill>
          <a:blip r:embed="rId6"/>
          <a:stretch>
            <a:fillRect/>
          </a:stretch>
        </p:blipFill>
        <p:spPr>
          <a:xfrm>
            <a:off x="6268575" y="5504042"/>
            <a:ext cx="2390775" cy="361950"/>
          </a:xfrm>
          <a:prstGeom prst="rect">
            <a:avLst/>
          </a:prstGeom>
        </p:spPr>
      </p:pic>
      <p:pic>
        <p:nvPicPr>
          <p:cNvPr id="1028" name="Picture 4" descr="New report evaluates Glasgow's participatory budgeting activity — PB  Scotland">
            <a:extLst>
              <a:ext uri="{FF2B5EF4-FFF2-40B4-BE49-F238E27FC236}">
                <a16:creationId xmlns:a16="http://schemas.microsoft.com/office/drawing/2014/main" id="{FCD0F415-098E-E799-7F7F-3B89D190D0B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07156" y="3281985"/>
            <a:ext cx="2499804" cy="24998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ocal Government Benchmarking Framework | West Dunbartonshire Council">
            <a:extLst>
              <a:ext uri="{FF2B5EF4-FFF2-40B4-BE49-F238E27FC236}">
                <a16:creationId xmlns:a16="http://schemas.microsoft.com/office/drawing/2014/main" id="{B5632D3B-6CF8-DE4D-48DB-A24F2F90CA5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94868" y="2879390"/>
            <a:ext cx="3076575" cy="142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07277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riangle 8">
            <a:extLst>
              <a:ext uri="{FF2B5EF4-FFF2-40B4-BE49-F238E27FC236}">
                <a16:creationId xmlns:a16="http://schemas.microsoft.com/office/drawing/2014/main" id="{97915D97-B1D3-1C4F-AB15-DB7B1C539A03}"/>
              </a:ext>
            </a:extLst>
          </p:cNvPr>
          <p:cNvSpPr/>
          <p:nvPr/>
        </p:nvSpPr>
        <p:spPr>
          <a:xfrm rot="5400000">
            <a:off x="488230" y="2749232"/>
            <a:ext cx="6877052" cy="1340481"/>
          </a:xfrm>
          <a:prstGeom prst="triangle">
            <a:avLst/>
          </a:prstGeom>
          <a:solidFill>
            <a:srgbClr val="D1222B"/>
          </a:solidFill>
          <a:ln w="28575">
            <a:solidFill>
              <a:srgbClr val="D1222B">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7A96C94-5274-3F4D-9C67-9934585AB39F}"/>
              </a:ext>
            </a:extLst>
          </p:cNvPr>
          <p:cNvSpPr/>
          <p:nvPr/>
        </p:nvSpPr>
        <p:spPr>
          <a:xfrm>
            <a:off x="1" y="0"/>
            <a:ext cx="3269398" cy="6858000"/>
          </a:xfrm>
          <a:prstGeom prst="rect">
            <a:avLst/>
          </a:prstGeom>
          <a:solidFill>
            <a:srgbClr val="0032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9B4CDC7-F157-EE43-81A7-294E115357CF}"/>
              </a:ext>
            </a:extLst>
          </p:cNvPr>
          <p:cNvPicPr>
            <a:picLocks noChangeAspect="1"/>
          </p:cNvPicPr>
          <p:nvPr/>
        </p:nvPicPr>
        <p:blipFill>
          <a:blip r:embed="rId3"/>
          <a:stretch>
            <a:fillRect/>
          </a:stretch>
        </p:blipFill>
        <p:spPr>
          <a:xfrm>
            <a:off x="480766" y="2616462"/>
            <a:ext cx="2609075" cy="1313019"/>
          </a:xfrm>
          <a:prstGeom prst="rect">
            <a:avLst/>
          </a:prstGeom>
        </p:spPr>
      </p:pic>
      <p:sp>
        <p:nvSpPr>
          <p:cNvPr id="8" name="TextBox 7">
            <a:extLst>
              <a:ext uri="{FF2B5EF4-FFF2-40B4-BE49-F238E27FC236}">
                <a16:creationId xmlns:a16="http://schemas.microsoft.com/office/drawing/2014/main" id="{3F936AEF-BA07-9443-8793-A9A49485A72C}"/>
              </a:ext>
            </a:extLst>
          </p:cNvPr>
          <p:cNvSpPr txBox="1"/>
          <p:nvPr/>
        </p:nvSpPr>
        <p:spPr>
          <a:xfrm>
            <a:off x="461912" y="4405384"/>
            <a:ext cx="2895280" cy="877163"/>
          </a:xfrm>
          <a:prstGeom prst="rect">
            <a:avLst/>
          </a:prstGeom>
          <a:noFill/>
        </p:spPr>
        <p:txBody>
          <a:bodyPr wrap="square" rtlCol="0">
            <a:spAutoFit/>
          </a:bodyPr>
          <a:lstStyle/>
          <a:p>
            <a:r>
              <a:rPr lang="en-US" sz="1700" i="1">
                <a:solidFill>
                  <a:schemeClr val="bg1"/>
                </a:solidFill>
                <a:latin typeface="Helvetica" pitchFamily="2" charset="0"/>
                <a:cs typeface="Arial" panose="020B0604020202020204" pitchFamily="34" charset="0"/>
              </a:rPr>
              <a:t>The ‘go to’ </a:t>
            </a:r>
            <a:r>
              <a:rPr lang="en-US" sz="1700" i="1" err="1">
                <a:solidFill>
                  <a:schemeClr val="bg1"/>
                </a:solidFill>
                <a:latin typeface="Helvetica" pitchFamily="2" charset="0"/>
                <a:cs typeface="Arial" panose="020B0604020202020204" pitchFamily="34" charset="0"/>
              </a:rPr>
              <a:t>organisation</a:t>
            </a:r>
            <a:r>
              <a:rPr lang="en-US" sz="1700" i="1">
                <a:solidFill>
                  <a:schemeClr val="bg1"/>
                </a:solidFill>
                <a:latin typeface="Helvetica" pitchFamily="2" charset="0"/>
                <a:cs typeface="Arial" panose="020B0604020202020204" pitchFamily="34" charset="0"/>
              </a:rPr>
              <a:t> for Local Government improvement in Scotland</a:t>
            </a:r>
          </a:p>
        </p:txBody>
      </p:sp>
      <p:cxnSp>
        <p:nvCxnSpPr>
          <p:cNvPr id="17" name="Straight Connector 16">
            <a:extLst>
              <a:ext uri="{FF2B5EF4-FFF2-40B4-BE49-F238E27FC236}">
                <a16:creationId xmlns:a16="http://schemas.microsoft.com/office/drawing/2014/main" id="{77EED639-697D-B04A-AD5F-D244687083BB}"/>
              </a:ext>
            </a:extLst>
          </p:cNvPr>
          <p:cNvCxnSpPr>
            <a:cxnSpLocks/>
          </p:cNvCxnSpPr>
          <p:nvPr/>
        </p:nvCxnSpPr>
        <p:spPr>
          <a:xfrm>
            <a:off x="461912" y="4163407"/>
            <a:ext cx="260907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245A596-4BC4-624F-A0EF-296A8714DF74}"/>
              </a:ext>
            </a:extLst>
          </p:cNvPr>
          <p:cNvSpPr txBox="1"/>
          <p:nvPr/>
        </p:nvSpPr>
        <p:spPr>
          <a:xfrm>
            <a:off x="4763671" y="2857472"/>
            <a:ext cx="4038601" cy="830997"/>
          </a:xfrm>
          <a:prstGeom prst="rect">
            <a:avLst/>
          </a:prstGeom>
          <a:noFill/>
        </p:spPr>
        <p:txBody>
          <a:bodyPr wrap="square" rtlCol="0">
            <a:spAutoFit/>
          </a:bodyPr>
          <a:lstStyle/>
          <a:p>
            <a:pPr algn="ctr"/>
            <a:r>
              <a:rPr lang="en-US" sz="4800" b="1">
                <a:solidFill>
                  <a:srgbClr val="00324F"/>
                </a:solidFill>
                <a:latin typeface="+mj-lt"/>
              </a:rPr>
              <a:t>Case Studies</a:t>
            </a:r>
          </a:p>
        </p:txBody>
      </p:sp>
      <p:sp>
        <p:nvSpPr>
          <p:cNvPr id="25" name="Triangle 24">
            <a:extLst>
              <a:ext uri="{FF2B5EF4-FFF2-40B4-BE49-F238E27FC236}">
                <a16:creationId xmlns:a16="http://schemas.microsoft.com/office/drawing/2014/main" id="{9A6DEA15-8065-4B49-A09D-A22E57EDB3C0}"/>
              </a:ext>
            </a:extLst>
          </p:cNvPr>
          <p:cNvSpPr/>
          <p:nvPr/>
        </p:nvSpPr>
        <p:spPr>
          <a:xfrm rot="5400000">
            <a:off x="390099" y="2847363"/>
            <a:ext cx="6877053" cy="1144220"/>
          </a:xfrm>
          <a:prstGeom prst="triangle">
            <a:avLst/>
          </a:prstGeom>
          <a:solidFill>
            <a:srgbClr val="00324F"/>
          </a:solidFill>
          <a:ln w="28575">
            <a:solidFill>
              <a:srgbClr val="00324F">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86137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745BA2-A770-B3FE-E11C-1C447D7A18A0}"/>
              </a:ext>
            </a:extLst>
          </p:cNvPr>
          <p:cNvSpPr txBox="1"/>
          <p:nvPr/>
        </p:nvSpPr>
        <p:spPr>
          <a:xfrm>
            <a:off x="116401" y="384037"/>
            <a:ext cx="7156758" cy="523220"/>
          </a:xfrm>
          <a:prstGeom prst="rect">
            <a:avLst/>
          </a:prstGeom>
          <a:noFill/>
        </p:spPr>
        <p:txBody>
          <a:bodyPr wrap="square">
            <a:spAutoFit/>
          </a:bodyPr>
          <a:lstStyle/>
          <a:p>
            <a:pPr algn="l"/>
            <a:r>
              <a:rPr lang="en-GB" sz="2800" b="1" i="0">
                <a:solidFill>
                  <a:srgbClr val="003A60"/>
                </a:solidFill>
                <a:effectLst/>
                <a:latin typeface="proxima-nova"/>
              </a:rPr>
              <a:t>Case Studies – Fife Strategic Assessment</a:t>
            </a:r>
          </a:p>
        </p:txBody>
      </p:sp>
      <p:pic>
        <p:nvPicPr>
          <p:cNvPr id="6" name="Picture 5">
            <a:extLst>
              <a:ext uri="{FF2B5EF4-FFF2-40B4-BE49-F238E27FC236}">
                <a16:creationId xmlns:a16="http://schemas.microsoft.com/office/drawing/2014/main" id="{963AE023-C666-29F5-5564-4043366B6F63}"/>
              </a:ext>
            </a:extLst>
          </p:cNvPr>
          <p:cNvPicPr>
            <a:picLocks noChangeAspect="1"/>
          </p:cNvPicPr>
          <p:nvPr/>
        </p:nvPicPr>
        <p:blipFill>
          <a:blip r:embed="rId4"/>
          <a:stretch>
            <a:fillRect/>
          </a:stretch>
        </p:blipFill>
        <p:spPr>
          <a:xfrm>
            <a:off x="4727210" y="1520824"/>
            <a:ext cx="4168158" cy="4314777"/>
          </a:xfrm>
          <a:prstGeom prst="rect">
            <a:avLst/>
          </a:prstGeom>
        </p:spPr>
      </p:pic>
      <p:sp>
        <p:nvSpPr>
          <p:cNvPr id="10" name="TextBox 9">
            <a:extLst>
              <a:ext uri="{FF2B5EF4-FFF2-40B4-BE49-F238E27FC236}">
                <a16:creationId xmlns:a16="http://schemas.microsoft.com/office/drawing/2014/main" id="{A0EEFFB3-F764-09B7-033B-D25A57913420}"/>
              </a:ext>
            </a:extLst>
          </p:cNvPr>
          <p:cNvSpPr txBox="1"/>
          <p:nvPr/>
        </p:nvSpPr>
        <p:spPr>
          <a:xfrm>
            <a:off x="248632" y="1720840"/>
            <a:ext cx="4122501" cy="3785652"/>
          </a:xfrm>
          <a:prstGeom prst="rect">
            <a:avLst/>
          </a:prstGeom>
          <a:noFill/>
        </p:spPr>
        <p:txBody>
          <a:bodyPr wrap="square" rtlCol="0">
            <a:spAutoFit/>
          </a:bodyPr>
          <a:lstStyle/>
          <a:p>
            <a:pPr marL="285750" indent="-285750">
              <a:buFont typeface="Arial" panose="020B0604020202020204" pitchFamily="34" charset="0"/>
              <a:buChar char="•"/>
            </a:pPr>
            <a:r>
              <a:rPr lang="en-GB" sz="2000"/>
              <a:t>Fife regularly use CPOP to review and refresh their local strategic assessments</a:t>
            </a:r>
          </a:p>
          <a:p>
            <a:pPr marL="285750" indent="-285750">
              <a:buFont typeface="Arial" panose="020B0604020202020204" pitchFamily="34" charset="0"/>
              <a:buChar char="•"/>
            </a:pPr>
            <a:endParaRPr lang="en-GB" sz="2000"/>
          </a:p>
          <a:p>
            <a:pPr marL="285750" indent="-285750">
              <a:buFont typeface="Arial" panose="020B0604020202020204" pitchFamily="34" charset="0"/>
              <a:buChar char="•"/>
            </a:pPr>
            <a:r>
              <a:rPr lang="en-GB" sz="2000"/>
              <a:t>Data/analysis from CPOP</a:t>
            </a:r>
          </a:p>
          <a:p>
            <a:pPr marL="285750" indent="-285750">
              <a:buFont typeface="Arial" panose="020B0604020202020204" pitchFamily="34" charset="0"/>
              <a:buChar char="•"/>
            </a:pPr>
            <a:endParaRPr lang="en-GB" sz="2000"/>
          </a:p>
          <a:p>
            <a:pPr marL="285750" indent="-285750">
              <a:buFont typeface="Arial" panose="020B0604020202020204" pitchFamily="34" charset="0"/>
              <a:buChar char="•"/>
            </a:pPr>
            <a:r>
              <a:rPr lang="en-GB" sz="2000"/>
              <a:t>Includes comparisons with similar areas</a:t>
            </a:r>
          </a:p>
          <a:p>
            <a:pPr marL="285750" indent="-285750">
              <a:buFont typeface="Arial" panose="020B0604020202020204" pitchFamily="34" charset="0"/>
              <a:buChar char="•"/>
            </a:pPr>
            <a:endParaRPr lang="en-GB" sz="2000"/>
          </a:p>
          <a:p>
            <a:pPr marL="285750" indent="-285750">
              <a:buFont typeface="Arial" panose="020B0604020202020204" pitchFamily="34" charset="0"/>
              <a:buChar char="•"/>
            </a:pPr>
            <a:r>
              <a:rPr lang="en-GB" sz="2000"/>
              <a:t>Use the strategic assessment to identify issues and challenges facing the area</a:t>
            </a:r>
          </a:p>
        </p:txBody>
      </p:sp>
    </p:spTree>
    <p:extLst>
      <p:ext uri="{BB962C8B-B14F-4D97-AF65-F5344CB8AC3E}">
        <p14:creationId xmlns:p14="http://schemas.microsoft.com/office/powerpoint/2010/main" val="2365725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86820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745BA2-A770-B3FE-E11C-1C447D7A18A0}"/>
              </a:ext>
            </a:extLst>
          </p:cNvPr>
          <p:cNvSpPr txBox="1"/>
          <p:nvPr/>
        </p:nvSpPr>
        <p:spPr>
          <a:xfrm>
            <a:off x="228358" y="172741"/>
            <a:ext cx="7402152" cy="523220"/>
          </a:xfrm>
          <a:prstGeom prst="rect">
            <a:avLst/>
          </a:prstGeom>
          <a:noFill/>
        </p:spPr>
        <p:txBody>
          <a:bodyPr wrap="square">
            <a:spAutoFit/>
          </a:bodyPr>
          <a:lstStyle/>
          <a:p>
            <a:pPr algn="l"/>
            <a:r>
              <a:rPr lang="en-GB" sz="2800" b="1" i="0">
                <a:solidFill>
                  <a:srgbClr val="003A60"/>
                </a:solidFill>
                <a:effectLst/>
                <a:latin typeface="proxima-nova"/>
              </a:rPr>
              <a:t>Case Studies – Fife Strategic Assessment</a:t>
            </a:r>
          </a:p>
        </p:txBody>
      </p:sp>
      <p:pic>
        <p:nvPicPr>
          <p:cNvPr id="6" name="Picture 5">
            <a:extLst>
              <a:ext uri="{FF2B5EF4-FFF2-40B4-BE49-F238E27FC236}">
                <a16:creationId xmlns:a16="http://schemas.microsoft.com/office/drawing/2014/main" id="{34EF6DCD-F65E-12D7-31E0-96CAB3D5CF2C}"/>
              </a:ext>
            </a:extLst>
          </p:cNvPr>
          <p:cNvPicPr>
            <a:picLocks noChangeAspect="1"/>
          </p:cNvPicPr>
          <p:nvPr/>
        </p:nvPicPr>
        <p:blipFill rotWithShape="1">
          <a:blip r:embed="rId4"/>
          <a:srcRect t="1086"/>
          <a:stretch/>
        </p:blipFill>
        <p:spPr>
          <a:xfrm>
            <a:off x="0" y="1083971"/>
            <a:ext cx="9144000" cy="4950757"/>
          </a:xfrm>
          <a:prstGeom prst="rect">
            <a:avLst/>
          </a:prstGeom>
        </p:spPr>
      </p:pic>
      <p:sp>
        <p:nvSpPr>
          <p:cNvPr id="2" name="Oval 1">
            <a:extLst>
              <a:ext uri="{FF2B5EF4-FFF2-40B4-BE49-F238E27FC236}">
                <a16:creationId xmlns:a16="http://schemas.microsoft.com/office/drawing/2014/main" id="{CCADDC94-601E-2139-194E-517349B8C11F}"/>
              </a:ext>
            </a:extLst>
          </p:cNvPr>
          <p:cNvSpPr/>
          <p:nvPr/>
        </p:nvSpPr>
        <p:spPr>
          <a:xfrm>
            <a:off x="0" y="955917"/>
            <a:ext cx="2175029" cy="665818"/>
          </a:xfrm>
          <a:prstGeom prst="ellipse">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59705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745BA2-A770-B3FE-E11C-1C447D7A18A0}"/>
              </a:ext>
            </a:extLst>
          </p:cNvPr>
          <p:cNvSpPr txBox="1"/>
          <p:nvPr/>
        </p:nvSpPr>
        <p:spPr>
          <a:xfrm>
            <a:off x="196828" y="291424"/>
            <a:ext cx="7212966" cy="523220"/>
          </a:xfrm>
          <a:prstGeom prst="rect">
            <a:avLst/>
          </a:prstGeom>
          <a:noFill/>
        </p:spPr>
        <p:txBody>
          <a:bodyPr wrap="square">
            <a:spAutoFit/>
          </a:bodyPr>
          <a:lstStyle/>
          <a:p>
            <a:pPr algn="l"/>
            <a:r>
              <a:rPr lang="en-GB" sz="2800" b="1" i="0">
                <a:solidFill>
                  <a:srgbClr val="003A60"/>
                </a:solidFill>
                <a:effectLst/>
                <a:latin typeface="proxima-nova"/>
              </a:rPr>
              <a:t>Case Studies – Moray Locality Profiling </a:t>
            </a:r>
          </a:p>
        </p:txBody>
      </p:sp>
      <p:sp>
        <p:nvSpPr>
          <p:cNvPr id="4" name="TextBox 3">
            <a:extLst>
              <a:ext uri="{FF2B5EF4-FFF2-40B4-BE49-F238E27FC236}">
                <a16:creationId xmlns:a16="http://schemas.microsoft.com/office/drawing/2014/main" id="{AADCA231-5A2E-20BC-1FAD-D2917FCEC112}"/>
              </a:ext>
            </a:extLst>
          </p:cNvPr>
          <p:cNvSpPr txBox="1"/>
          <p:nvPr/>
        </p:nvSpPr>
        <p:spPr>
          <a:xfrm>
            <a:off x="503681" y="1277428"/>
            <a:ext cx="4417214" cy="4708981"/>
          </a:xfrm>
          <a:prstGeom prst="rect">
            <a:avLst/>
          </a:prstGeom>
          <a:noFill/>
        </p:spPr>
        <p:txBody>
          <a:bodyPr wrap="square">
            <a:spAutoFit/>
          </a:bodyPr>
          <a:lstStyle/>
          <a:p>
            <a:r>
              <a:rPr lang="en-GB" sz="2000">
                <a:effectLst/>
                <a:latin typeface="Calibri" panose="020F0502020204030204" pitchFamily="34" charset="0"/>
                <a:ea typeface="Calibri" panose="020F0502020204030204" pitchFamily="34" charset="0"/>
                <a:cs typeface="Times New Roman" panose="02020603050405020304" pitchFamily="18" charset="0"/>
              </a:rPr>
              <a:t>Moray use for prioritisation</a:t>
            </a:r>
          </a:p>
          <a:p>
            <a:endParaRPr lang="en-GB" sz="200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GB" sz="2000">
                <a:effectLst/>
                <a:latin typeface="Calibri" panose="020F0502020204030204" pitchFamily="34" charset="0"/>
                <a:ea typeface="Calibri" panose="020F0502020204030204" pitchFamily="34" charset="0"/>
                <a:cs typeface="Times New Roman" panose="02020603050405020304" pitchFamily="18" charset="0"/>
              </a:rPr>
              <a:t>Identify two most vulnerable areas</a:t>
            </a:r>
          </a:p>
          <a:p>
            <a:pPr marL="342900" indent="-342900">
              <a:buFont typeface="Arial" panose="020B0604020202020204" pitchFamily="34" charset="0"/>
              <a:buChar char="•"/>
            </a:pPr>
            <a:endParaRPr lang="en-GB" sz="200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GB" sz="2000">
                <a:effectLst/>
                <a:latin typeface="Calibri" panose="020F0502020204030204" pitchFamily="34" charset="0"/>
                <a:ea typeface="Calibri" panose="020F0502020204030204" pitchFamily="34" charset="0"/>
                <a:cs typeface="Times New Roman" panose="02020603050405020304" pitchFamily="18" charset="0"/>
              </a:rPr>
              <a:t>CPOP data used together with other sources</a:t>
            </a:r>
          </a:p>
          <a:p>
            <a:pPr marL="342900" indent="-342900">
              <a:buFont typeface="Arial" panose="020B0604020202020204" pitchFamily="34" charset="0"/>
              <a:buChar char="•"/>
            </a:pPr>
            <a:endParaRPr lang="en-GB" sz="200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GB" sz="2000">
                <a:latin typeface="Calibri" panose="020F0502020204030204" pitchFamily="34" charset="0"/>
                <a:ea typeface="Calibri" panose="020F0502020204030204" pitchFamily="34" charset="0"/>
                <a:cs typeface="Times New Roman" panose="02020603050405020304" pitchFamily="18" charset="0"/>
              </a:rPr>
              <a:t>Buckie Central East and New Elgin East</a:t>
            </a:r>
          </a:p>
          <a:p>
            <a:pPr marL="342900" indent="-342900">
              <a:buFont typeface="Arial" panose="020B0604020202020204" pitchFamily="34" charset="0"/>
              <a:buChar char="•"/>
            </a:pPr>
            <a:endParaRPr lang="en-GB" sz="200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GB" sz="2000">
                <a:latin typeface="Calibri" panose="020F0502020204030204" pitchFamily="34" charset="0"/>
                <a:ea typeface="Calibri" panose="020F0502020204030204" pitchFamily="34" charset="0"/>
                <a:cs typeface="Times New Roman" panose="02020603050405020304" pitchFamily="18" charset="0"/>
              </a:rPr>
              <a:t>Developed Locality Plans to tackle the primary issues in each</a:t>
            </a:r>
          </a:p>
          <a:p>
            <a:pPr marL="342900" indent="-342900">
              <a:buFont typeface="Arial" panose="020B0604020202020204" pitchFamily="34" charset="0"/>
              <a:buChar char="•"/>
            </a:pPr>
            <a:endParaRPr lang="en-GB" sz="200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GB" sz="2000">
                <a:latin typeface="Calibri" panose="020F0502020204030204" pitchFamily="34" charset="0"/>
                <a:ea typeface="Calibri" panose="020F0502020204030204" pitchFamily="34" charset="0"/>
                <a:cs typeface="Times New Roman" panose="02020603050405020304" pitchFamily="18" charset="0"/>
              </a:rPr>
              <a:t>Ongoing review – CPOP focus on time series</a:t>
            </a:r>
            <a:endParaRPr lang="en-GB" sz="20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Picture 11">
            <a:extLst>
              <a:ext uri="{FF2B5EF4-FFF2-40B4-BE49-F238E27FC236}">
                <a16:creationId xmlns:a16="http://schemas.microsoft.com/office/drawing/2014/main" id="{19C8932C-035D-C208-1F75-99C9BE7AB06D}"/>
              </a:ext>
            </a:extLst>
          </p:cNvPr>
          <p:cNvPicPr>
            <a:picLocks noChangeAspect="1"/>
          </p:cNvPicPr>
          <p:nvPr/>
        </p:nvPicPr>
        <p:blipFill>
          <a:blip r:embed="rId4"/>
          <a:stretch>
            <a:fillRect/>
          </a:stretch>
        </p:blipFill>
        <p:spPr>
          <a:xfrm>
            <a:off x="4920895" y="2160946"/>
            <a:ext cx="3795901" cy="2865638"/>
          </a:xfrm>
          <a:prstGeom prst="rect">
            <a:avLst/>
          </a:prstGeom>
        </p:spPr>
      </p:pic>
    </p:spTree>
    <p:extLst>
      <p:ext uri="{BB962C8B-B14F-4D97-AF65-F5344CB8AC3E}">
        <p14:creationId xmlns:p14="http://schemas.microsoft.com/office/powerpoint/2010/main" val="2279014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DEE36F7-ADB3-3246-BD78-C41E4F77BEBF}"/>
              </a:ext>
            </a:extLst>
          </p:cNvPr>
          <p:cNvCxnSpPr>
            <a:cxnSpLocks/>
          </p:cNvCxnSpPr>
          <p:nvPr/>
        </p:nvCxnSpPr>
        <p:spPr>
          <a:xfrm>
            <a:off x="0" y="1022399"/>
            <a:ext cx="9144000" cy="0"/>
          </a:xfrm>
          <a:prstGeom prst="line">
            <a:avLst/>
          </a:prstGeom>
          <a:ln w="19050">
            <a:solidFill>
              <a:srgbClr val="03243D"/>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D3B88B8-9994-574D-86F4-A852A4AB9BB8}"/>
              </a:ext>
            </a:extLst>
          </p:cNvPr>
          <p:cNvSpPr/>
          <p:nvPr/>
        </p:nvSpPr>
        <p:spPr>
          <a:xfrm>
            <a:off x="0" y="6251099"/>
            <a:ext cx="9144000" cy="606902"/>
          </a:xfrm>
          <a:prstGeom prst="rect">
            <a:avLst/>
          </a:prstGeom>
          <a:solidFill>
            <a:srgbClr val="03243D"/>
          </a:solidFill>
          <a:ln w="3175">
            <a:solidFill>
              <a:srgbClr val="2F528F">
                <a:alpha val="32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p>
        </p:txBody>
      </p:sp>
      <p:sp>
        <p:nvSpPr>
          <p:cNvPr id="8" name="TextBox 7">
            <a:extLst>
              <a:ext uri="{FF2B5EF4-FFF2-40B4-BE49-F238E27FC236}">
                <a16:creationId xmlns:a16="http://schemas.microsoft.com/office/drawing/2014/main" id="{35B3406E-80AC-D847-A030-7B1B0BA27B64}"/>
              </a:ext>
            </a:extLst>
          </p:cNvPr>
          <p:cNvSpPr txBox="1"/>
          <p:nvPr/>
        </p:nvSpPr>
        <p:spPr>
          <a:xfrm>
            <a:off x="116401" y="6400355"/>
            <a:ext cx="6183748" cy="307777"/>
          </a:xfrm>
          <a:prstGeom prst="rect">
            <a:avLst/>
          </a:prstGeom>
          <a:noFill/>
        </p:spPr>
        <p:txBody>
          <a:bodyPr wrap="square" rtlCol="0">
            <a:spAutoFit/>
          </a:bodyPr>
          <a:lstStyle/>
          <a:p>
            <a:pPr lvl="0"/>
            <a:r>
              <a:rPr lang="en-GB" sz="1400" i="1">
                <a:solidFill>
                  <a:schemeClr val="bg1"/>
                </a:solidFill>
                <a:latin typeface="Helvetica" pitchFamily="2" charset="0"/>
              </a:rPr>
              <a:t>The ‘go to’ organisation for Local Government improvement in Scotland</a:t>
            </a:r>
          </a:p>
        </p:txBody>
      </p:sp>
      <p:pic>
        <p:nvPicPr>
          <p:cNvPr id="11" name="Picture 10">
            <a:extLst>
              <a:ext uri="{FF2B5EF4-FFF2-40B4-BE49-F238E27FC236}">
                <a16:creationId xmlns:a16="http://schemas.microsoft.com/office/drawing/2014/main" id="{35A67A80-745E-8448-802F-9E7B53867113}"/>
              </a:ext>
            </a:extLst>
          </p:cNvPr>
          <p:cNvPicPr>
            <a:picLocks noChangeAspect="1"/>
          </p:cNvPicPr>
          <p:nvPr/>
        </p:nvPicPr>
        <p:blipFill>
          <a:blip r:embed="rId3"/>
          <a:stretch>
            <a:fillRect/>
          </a:stretch>
        </p:blipFill>
        <p:spPr>
          <a:xfrm>
            <a:off x="8007551" y="6311576"/>
            <a:ext cx="887817" cy="457200"/>
          </a:xfrm>
          <a:prstGeom prst="rect">
            <a:avLst/>
          </a:prstGeom>
        </p:spPr>
      </p:pic>
      <p:sp>
        <p:nvSpPr>
          <p:cNvPr id="9" name="Rectangle 8">
            <a:extLst>
              <a:ext uri="{FF2B5EF4-FFF2-40B4-BE49-F238E27FC236}">
                <a16:creationId xmlns:a16="http://schemas.microsoft.com/office/drawing/2014/main" id="{09944D84-D06D-8943-AB34-17A5C4ED12DB}"/>
              </a:ext>
            </a:extLst>
          </p:cNvPr>
          <p:cNvSpPr/>
          <p:nvPr/>
        </p:nvSpPr>
        <p:spPr>
          <a:xfrm>
            <a:off x="0" y="6165130"/>
            <a:ext cx="9144000" cy="104823"/>
          </a:xfrm>
          <a:prstGeom prst="rect">
            <a:avLst/>
          </a:prstGeom>
          <a:solidFill>
            <a:srgbClr val="D1222B"/>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745BA2-A770-B3FE-E11C-1C447D7A18A0}"/>
              </a:ext>
            </a:extLst>
          </p:cNvPr>
          <p:cNvSpPr txBox="1"/>
          <p:nvPr/>
        </p:nvSpPr>
        <p:spPr>
          <a:xfrm>
            <a:off x="196828" y="291424"/>
            <a:ext cx="7212966" cy="523220"/>
          </a:xfrm>
          <a:prstGeom prst="rect">
            <a:avLst/>
          </a:prstGeom>
          <a:noFill/>
        </p:spPr>
        <p:txBody>
          <a:bodyPr wrap="square">
            <a:spAutoFit/>
          </a:bodyPr>
          <a:lstStyle/>
          <a:p>
            <a:pPr algn="l"/>
            <a:r>
              <a:rPr lang="en-GB" sz="2800" b="1" i="0">
                <a:solidFill>
                  <a:srgbClr val="003A60"/>
                </a:solidFill>
                <a:effectLst/>
                <a:latin typeface="proxima-nova"/>
              </a:rPr>
              <a:t>Case Studies – Shaping Places for Wellbeing</a:t>
            </a:r>
          </a:p>
        </p:txBody>
      </p:sp>
      <p:sp>
        <p:nvSpPr>
          <p:cNvPr id="4" name="TextBox 3">
            <a:extLst>
              <a:ext uri="{FF2B5EF4-FFF2-40B4-BE49-F238E27FC236}">
                <a16:creationId xmlns:a16="http://schemas.microsoft.com/office/drawing/2014/main" id="{AADCA231-5A2E-20BC-1FAD-D2917FCEC112}"/>
              </a:ext>
            </a:extLst>
          </p:cNvPr>
          <p:cNvSpPr txBox="1"/>
          <p:nvPr/>
        </p:nvSpPr>
        <p:spPr>
          <a:xfrm>
            <a:off x="340188" y="1462128"/>
            <a:ext cx="3601191" cy="1323439"/>
          </a:xfrm>
          <a:prstGeom prst="rect">
            <a:avLst/>
          </a:prstGeom>
          <a:noFill/>
        </p:spPr>
        <p:txBody>
          <a:bodyPr wrap="square">
            <a:spAutoFit/>
          </a:bodyPr>
          <a:lstStyle/>
          <a:p>
            <a:r>
              <a:rPr lang="en-GB" sz="2000">
                <a:effectLst/>
                <a:latin typeface="Calibri" panose="020F0502020204030204" pitchFamily="34" charset="0"/>
                <a:ea typeface="Calibri" panose="020F0502020204030204" pitchFamily="34" charset="0"/>
                <a:cs typeface="Times New Roman" panose="02020603050405020304" pitchFamily="18" charset="0"/>
              </a:rPr>
              <a:t>Shaping Places for Wellbeing incorporated the data and analysis into their quantitative review of towns.</a:t>
            </a:r>
          </a:p>
        </p:txBody>
      </p:sp>
      <p:pic>
        <p:nvPicPr>
          <p:cNvPr id="6" name="Picture 5">
            <a:extLst>
              <a:ext uri="{FF2B5EF4-FFF2-40B4-BE49-F238E27FC236}">
                <a16:creationId xmlns:a16="http://schemas.microsoft.com/office/drawing/2014/main" id="{61BC168C-90C9-D583-04BF-C724399B259C}"/>
              </a:ext>
            </a:extLst>
          </p:cNvPr>
          <p:cNvPicPr>
            <a:picLocks noChangeAspect="1"/>
          </p:cNvPicPr>
          <p:nvPr/>
        </p:nvPicPr>
        <p:blipFill>
          <a:blip r:embed="rId4"/>
          <a:stretch>
            <a:fillRect/>
          </a:stretch>
        </p:blipFill>
        <p:spPr>
          <a:xfrm>
            <a:off x="4356613" y="1442169"/>
            <a:ext cx="4630091" cy="4303191"/>
          </a:xfrm>
          <a:prstGeom prst="rect">
            <a:avLst/>
          </a:prstGeom>
          <a:ln>
            <a:solidFill>
              <a:schemeClr val="tx1"/>
            </a:solidFill>
          </a:ln>
        </p:spPr>
      </p:pic>
      <p:pic>
        <p:nvPicPr>
          <p:cNvPr id="15" name="Picture 14">
            <a:extLst>
              <a:ext uri="{FF2B5EF4-FFF2-40B4-BE49-F238E27FC236}">
                <a16:creationId xmlns:a16="http://schemas.microsoft.com/office/drawing/2014/main" id="{2A137A1D-D45F-8F7F-22C9-F766EBF95238}"/>
              </a:ext>
            </a:extLst>
          </p:cNvPr>
          <p:cNvPicPr>
            <a:picLocks noChangeAspect="1"/>
          </p:cNvPicPr>
          <p:nvPr/>
        </p:nvPicPr>
        <p:blipFill>
          <a:blip r:embed="rId5"/>
          <a:stretch>
            <a:fillRect/>
          </a:stretch>
        </p:blipFill>
        <p:spPr>
          <a:xfrm>
            <a:off x="39445" y="2991659"/>
            <a:ext cx="4202675" cy="2405095"/>
          </a:xfrm>
          <a:prstGeom prst="rect">
            <a:avLst/>
          </a:prstGeom>
        </p:spPr>
      </p:pic>
    </p:spTree>
    <p:extLst>
      <p:ext uri="{BB962C8B-B14F-4D97-AF65-F5344CB8AC3E}">
        <p14:creationId xmlns:p14="http://schemas.microsoft.com/office/powerpoint/2010/main" val="25152941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riangle 8">
            <a:extLst>
              <a:ext uri="{FF2B5EF4-FFF2-40B4-BE49-F238E27FC236}">
                <a16:creationId xmlns:a16="http://schemas.microsoft.com/office/drawing/2014/main" id="{97915D97-B1D3-1C4F-AB15-DB7B1C539A03}"/>
              </a:ext>
            </a:extLst>
          </p:cNvPr>
          <p:cNvSpPr/>
          <p:nvPr/>
        </p:nvSpPr>
        <p:spPr>
          <a:xfrm rot="5400000">
            <a:off x="488230" y="2749232"/>
            <a:ext cx="6877052" cy="1340481"/>
          </a:xfrm>
          <a:prstGeom prst="triangle">
            <a:avLst/>
          </a:prstGeom>
          <a:solidFill>
            <a:srgbClr val="D1222B"/>
          </a:solidFill>
          <a:ln w="28575">
            <a:solidFill>
              <a:srgbClr val="D1222B">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7A96C94-5274-3F4D-9C67-9934585AB39F}"/>
              </a:ext>
            </a:extLst>
          </p:cNvPr>
          <p:cNvSpPr/>
          <p:nvPr/>
        </p:nvSpPr>
        <p:spPr>
          <a:xfrm>
            <a:off x="1" y="0"/>
            <a:ext cx="3269398" cy="6858000"/>
          </a:xfrm>
          <a:prstGeom prst="rect">
            <a:avLst/>
          </a:prstGeom>
          <a:solidFill>
            <a:srgbClr val="00324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9B4CDC7-F157-EE43-81A7-294E115357CF}"/>
              </a:ext>
            </a:extLst>
          </p:cNvPr>
          <p:cNvPicPr>
            <a:picLocks noChangeAspect="1"/>
          </p:cNvPicPr>
          <p:nvPr/>
        </p:nvPicPr>
        <p:blipFill>
          <a:blip r:embed="rId3"/>
          <a:stretch>
            <a:fillRect/>
          </a:stretch>
        </p:blipFill>
        <p:spPr>
          <a:xfrm>
            <a:off x="480766" y="2616462"/>
            <a:ext cx="2609075" cy="1313019"/>
          </a:xfrm>
          <a:prstGeom prst="rect">
            <a:avLst/>
          </a:prstGeom>
        </p:spPr>
      </p:pic>
      <p:sp>
        <p:nvSpPr>
          <p:cNvPr id="8" name="TextBox 7">
            <a:extLst>
              <a:ext uri="{FF2B5EF4-FFF2-40B4-BE49-F238E27FC236}">
                <a16:creationId xmlns:a16="http://schemas.microsoft.com/office/drawing/2014/main" id="{3F936AEF-BA07-9443-8793-A9A49485A72C}"/>
              </a:ext>
            </a:extLst>
          </p:cNvPr>
          <p:cNvSpPr txBox="1"/>
          <p:nvPr/>
        </p:nvSpPr>
        <p:spPr>
          <a:xfrm>
            <a:off x="461912" y="4405384"/>
            <a:ext cx="2895280" cy="877163"/>
          </a:xfrm>
          <a:prstGeom prst="rect">
            <a:avLst/>
          </a:prstGeom>
          <a:noFill/>
        </p:spPr>
        <p:txBody>
          <a:bodyPr wrap="square" rtlCol="0">
            <a:spAutoFit/>
          </a:bodyPr>
          <a:lstStyle/>
          <a:p>
            <a:r>
              <a:rPr lang="en-US" sz="1700" i="1">
                <a:solidFill>
                  <a:schemeClr val="bg1"/>
                </a:solidFill>
                <a:latin typeface="Helvetica" pitchFamily="2" charset="0"/>
                <a:cs typeface="Arial" panose="020B0604020202020204" pitchFamily="34" charset="0"/>
              </a:rPr>
              <a:t>The ‘go to’ </a:t>
            </a:r>
            <a:r>
              <a:rPr lang="en-US" sz="1700" i="1" err="1">
                <a:solidFill>
                  <a:schemeClr val="bg1"/>
                </a:solidFill>
                <a:latin typeface="Helvetica" pitchFamily="2" charset="0"/>
                <a:cs typeface="Arial" panose="020B0604020202020204" pitchFamily="34" charset="0"/>
              </a:rPr>
              <a:t>organisation</a:t>
            </a:r>
            <a:r>
              <a:rPr lang="en-US" sz="1700" i="1">
                <a:solidFill>
                  <a:schemeClr val="bg1"/>
                </a:solidFill>
                <a:latin typeface="Helvetica" pitchFamily="2" charset="0"/>
                <a:cs typeface="Arial" panose="020B0604020202020204" pitchFamily="34" charset="0"/>
              </a:rPr>
              <a:t> for Local Government improvement in Scotland</a:t>
            </a:r>
          </a:p>
        </p:txBody>
      </p:sp>
      <p:cxnSp>
        <p:nvCxnSpPr>
          <p:cNvPr id="17" name="Straight Connector 16">
            <a:extLst>
              <a:ext uri="{FF2B5EF4-FFF2-40B4-BE49-F238E27FC236}">
                <a16:creationId xmlns:a16="http://schemas.microsoft.com/office/drawing/2014/main" id="{77EED639-697D-B04A-AD5F-D244687083BB}"/>
              </a:ext>
            </a:extLst>
          </p:cNvPr>
          <p:cNvCxnSpPr>
            <a:cxnSpLocks/>
          </p:cNvCxnSpPr>
          <p:nvPr/>
        </p:nvCxnSpPr>
        <p:spPr>
          <a:xfrm>
            <a:off x="461912" y="4163407"/>
            <a:ext cx="2609076"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245A596-4BC4-624F-A0EF-296A8714DF74}"/>
              </a:ext>
            </a:extLst>
          </p:cNvPr>
          <p:cNvSpPr txBox="1"/>
          <p:nvPr/>
        </p:nvSpPr>
        <p:spPr>
          <a:xfrm>
            <a:off x="4763671" y="2857472"/>
            <a:ext cx="4038601" cy="830997"/>
          </a:xfrm>
          <a:prstGeom prst="rect">
            <a:avLst/>
          </a:prstGeom>
          <a:noFill/>
        </p:spPr>
        <p:txBody>
          <a:bodyPr wrap="square" rtlCol="0">
            <a:spAutoFit/>
          </a:bodyPr>
          <a:lstStyle/>
          <a:p>
            <a:pPr algn="ctr"/>
            <a:r>
              <a:rPr lang="en-US" sz="4800" b="1">
                <a:solidFill>
                  <a:srgbClr val="00324F"/>
                </a:solidFill>
                <a:latin typeface="+mj-lt"/>
              </a:rPr>
              <a:t>CPOP Demo</a:t>
            </a:r>
          </a:p>
        </p:txBody>
      </p:sp>
      <p:sp>
        <p:nvSpPr>
          <p:cNvPr id="25" name="Triangle 24">
            <a:extLst>
              <a:ext uri="{FF2B5EF4-FFF2-40B4-BE49-F238E27FC236}">
                <a16:creationId xmlns:a16="http://schemas.microsoft.com/office/drawing/2014/main" id="{9A6DEA15-8065-4B49-A09D-A22E57EDB3C0}"/>
              </a:ext>
            </a:extLst>
          </p:cNvPr>
          <p:cNvSpPr/>
          <p:nvPr/>
        </p:nvSpPr>
        <p:spPr>
          <a:xfrm rot="5400000">
            <a:off x="390099" y="2847363"/>
            <a:ext cx="6877053" cy="1144220"/>
          </a:xfrm>
          <a:prstGeom prst="triangle">
            <a:avLst/>
          </a:prstGeom>
          <a:solidFill>
            <a:srgbClr val="00324F"/>
          </a:solidFill>
          <a:ln w="28575">
            <a:solidFill>
              <a:srgbClr val="00324F">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888969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10.0.5209"/>
  <p:tag name="SLIDO_PRESENTATION_ID" val="00000000-0000-0000-0000-000000000000"/>
  <p:tag name="SLIDO_EVENT_UUID" val="772a74f9-85d2-4adf-9ba2-19914e6ad16e"/>
  <p:tag name="SLIDO_EVENT_SECTION_UUID" val="f29b8dd2-be11-45d9-b39a-26a4b1a0084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4E37E5449D0C04ABB746406540A58A4" ma:contentTypeVersion="25" ma:contentTypeDescription="Create a new document." ma:contentTypeScope="" ma:versionID="b4cdf6c964861cabf856070ece7ccc39">
  <xsd:schema xmlns:xsd="http://www.w3.org/2001/XMLSchema" xmlns:xs="http://www.w3.org/2001/XMLSchema" xmlns:p="http://schemas.microsoft.com/office/2006/metadata/properties" xmlns:ns2="98c8c46b-f24b-4722-b4ea-0fa6af3cff7b" xmlns:ns3="4cc6cf2a-33ea-4e42-91fe-ef3352b7f56e" targetNamespace="http://schemas.microsoft.com/office/2006/metadata/properties" ma:root="true" ma:fieldsID="63b0d5ff2119c6785570c3554d1068e0" ns2:_="" ns3:_="">
    <xsd:import namespace="98c8c46b-f24b-4722-b4ea-0fa6af3cff7b"/>
    <xsd:import namespace="4cc6cf2a-33ea-4e42-91fe-ef3352b7f56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tadata" minOccurs="0"/>
                <xsd:element ref="ns2:National_x0020_Outcome" minOccurs="0"/>
                <xsd:element ref="ns2:National_x0020_Outcomes" minOccurs="0"/>
                <xsd:element ref="ns2:Linktopublishedcontent" minOccurs="0"/>
                <xsd:element ref="ns2:Team" minOccurs="0"/>
                <xsd:element ref="ns2:Teams" minOccurs="0"/>
                <xsd:element ref="ns2:Priority"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8c8c46b-f24b-4722-b4ea-0fa6af3cf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tadata" ma:index="12" nillable="true" ma:displayName="Summary" ma:description="Used for case study snippet" ma:format="Dropdown" ma:internalName="Metadata">
      <xsd:simpleType>
        <xsd:restriction base="dms:Note"/>
      </xsd:simpleType>
    </xsd:element>
    <xsd:element name="National_x0020_Outcome" ma:index="13" nillable="true" ma:displayName="National Outcome" ma:default="1" ma:format="Dropdown" ma:internalName="National_x0020_Outcome">
      <xsd:simpleType>
        <xsd:restriction base="dms:Choice">
          <xsd:enumeration value="1"/>
          <xsd:enumeration value="2"/>
          <xsd:enumeration value="3"/>
          <xsd:enumeration value="Enter Choice #2"/>
          <xsd:enumeration value="Enter Choice #3"/>
        </xsd:restriction>
      </xsd:simpleType>
    </xsd:element>
    <xsd:element name="National_x0020_Outcomes" ma:index="14" nillable="true" ma:displayName="National Outcomes" ma:format="Dropdown" ma:internalName="National_x0020_Outcomes">
      <xsd:complexType>
        <xsd:complexContent>
          <xsd:extension base="dms:MultiChoice">
            <xsd:sequence>
              <xsd:element name="Value" maxOccurs="unbounded" minOccurs="0" nillable="true">
                <xsd:simpleType>
                  <xsd:restriction base="dms:Choice">
                    <xsd:enumeration value="Human Rights"/>
                    <xsd:enumeration value="Culture"/>
                    <xsd:enumeration value="Environment"/>
                    <xsd:enumeration value="Health"/>
                    <xsd:enumeration value="Fair Work and Business"/>
                    <xsd:enumeration value="Education"/>
                    <xsd:enumeration value="Children"/>
                    <xsd:enumeration value="Economy"/>
                    <xsd:enumeration value="International"/>
                    <xsd:enumeration value="Poverty"/>
                    <xsd:enumeration value="Communities"/>
                  </xsd:restriction>
                </xsd:simpleType>
              </xsd:element>
            </xsd:sequence>
          </xsd:extension>
        </xsd:complexContent>
      </xsd:complexType>
    </xsd:element>
    <xsd:element name="Linktopublishedcontent" ma:index="15" nillable="true" ma:displayName="Link to published content" ma:format="Hyperlink" ma:internalName="Linktopublishedcontent">
      <xsd:complexType>
        <xsd:complexContent>
          <xsd:extension base="dms:URL">
            <xsd:sequence>
              <xsd:element name="Url" type="dms:ValidUrl" minOccurs="0" nillable="true"/>
              <xsd:element name="Description" type="xsd:string" nillable="true"/>
            </xsd:sequence>
          </xsd:extension>
        </xsd:complexContent>
      </xsd:complexType>
    </xsd:element>
    <xsd:element name="Team" ma:index="16" nillable="true" ma:displayName="Team" ma:format="Dropdown" ma:internalName="Team">
      <xsd:simpleType>
        <xsd:union memberTypes="dms:Text">
          <xsd:simpleType>
            <xsd:restriction base="dms:Choice">
              <xsd:enumeration value="Change Management"/>
              <xsd:enumeration value="Child Poverty"/>
              <xsd:enumeration value="Digital Public Services"/>
              <xsd:enumeration value="Elected Member"/>
              <xsd:enumeration value="PSIF"/>
              <xsd:enumeration value="Spatial"/>
            </xsd:restriction>
          </xsd:simpleType>
        </xsd:union>
      </xsd:simpleType>
    </xsd:element>
    <xsd:element name="Teams" ma:index="17" nillable="true" ma:displayName="Teams" ma:format="Dropdown" ma:internalName="Teams">
      <xsd:simpleType>
        <xsd:union memberTypes="dms:Text">
          <xsd:simpleType>
            <xsd:restriction base="dms:Choice">
              <xsd:enumeration value="Choice 1"/>
              <xsd:enumeration value="Choice 2"/>
              <xsd:enumeration value="Choice 3"/>
            </xsd:restriction>
          </xsd:simpleType>
        </xsd:union>
      </xsd:simpleType>
    </xsd:element>
    <xsd:element name="Priority" ma:index="18" nillable="true" ma:displayName="Priority" ma:description="Priority given to the development of the case study" ma:format="Dropdown" ma:internalName="Priority">
      <xsd:simpleType>
        <xsd:restriction base="dms:Choice">
          <xsd:enumeration value="P1 - top - proceed"/>
          <xsd:enumeration value="P1 - top - other format required"/>
          <xsd:enumeration value="P2 - proceed"/>
          <xsd:enumeration value="P2 - proceed - other format required"/>
          <xsd:enumeration value="P3 - lowest priority"/>
          <xsd:enumeration value="-- unassigned --"/>
        </xsd:restriction>
      </xsd:simpleType>
    </xsd:element>
    <xsd:element name="MediaServiceAutoTags" ma:index="19" nillable="true" ma:displayName="Tags" ma:internalName="MediaServiceAutoTags"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AutoKeyPoints" ma:index="23" nillable="true" ma:displayName="MediaServiceAutoKeyPoints" ma:hidden="true" ma:internalName="MediaServiceAutoKeyPoints" ma:readOnly="true">
      <xsd:simpleType>
        <xsd:restriction base="dms:Note"/>
      </xsd:simpleType>
    </xsd:element>
    <xsd:element name="MediaServiceKeyPoints" ma:index="24" nillable="true" ma:displayName="KeyPoints" ma:internalName="MediaServiceKeyPoints" ma:readOnly="true">
      <xsd:simpleType>
        <xsd:restriction base="dms:Note">
          <xsd:maxLength value="255"/>
        </xsd:restriction>
      </xsd:simpleType>
    </xsd:element>
    <xsd:element name="MediaServiceDateTaken" ma:index="25" nillable="true" ma:displayName="MediaServiceDateTaken" ma:hidden="true" ma:internalName="MediaServiceDateTaken"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element name="MediaServiceLocation" ma:index="27" nillable="true" ma:displayName="Location" ma:internalName="MediaServiceLocation" ma:readOnly="true">
      <xsd:simpleType>
        <xsd:restriction base="dms:Text"/>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c68f511a-55f6-4a17-bf66-50620cb4ac5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cc6cf2a-33ea-4e42-91fe-ef3352b7f56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30" nillable="true" ma:displayName="Taxonomy Catch All Column" ma:hidden="true" ma:list="{f3e95c23-d1e6-4050-b4a8-728a06be7ffb}" ma:internalName="TaxCatchAll" ma:showField="CatchAllData" ma:web="4cc6cf2a-33ea-4e42-91fe-ef3352b7f5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tadata xmlns="98c8c46b-f24b-4722-b4ea-0fa6af3cff7b" xsi:nil="true"/>
    <Priority xmlns="98c8c46b-f24b-4722-b4ea-0fa6af3cff7b" xsi:nil="true"/>
    <Teams xmlns="98c8c46b-f24b-4722-b4ea-0fa6af3cff7b" xsi:nil="true"/>
    <Team xmlns="98c8c46b-f24b-4722-b4ea-0fa6af3cff7b" xsi:nil="true"/>
    <National_x0020_Outcomes xmlns="98c8c46b-f24b-4722-b4ea-0fa6af3cff7b" xsi:nil="true"/>
    <National_x0020_Outcome xmlns="98c8c46b-f24b-4722-b4ea-0fa6af3cff7b">1</National_x0020_Outcome>
    <Linktopublishedcontent xmlns="98c8c46b-f24b-4722-b4ea-0fa6af3cff7b">
      <Url xsi:nil="true"/>
      <Description xsi:nil="true"/>
    </Linktopublishedcontent>
    <TaxCatchAll xmlns="4cc6cf2a-33ea-4e42-91fe-ef3352b7f56e" xsi:nil="true"/>
    <lcf76f155ced4ddcb4097134ff3c332f xmlns="98c8c46b-f24b-4722-b4ea-0fa6af3cff7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2C907E2B-87F6-4C11-9D0E-2A8604A0B3DC}">
  <ds:schemaRefs>
    <ds:schemaRef ds:uri="http://schemas.microsoft.com/sharepoint/v3/contenttype/forms"/>
  </ds:schemaRefs>
</ds:datastoreItem>
</file>

<file path=customXml/itemProps2.xml><?xml version="1.0" encoding="utf-8"?>
<ds:datastoreItem xmlns:ds="http://schemas.openxmlformats.org/officeDocument/2006/customXml" ds:itemID="{49CF36BB-FDA7-408A-AF58-F97AC07A9C4A}">
  <ds:schemaRefs>
    <ds:schemaRef ds:uri="4cc6cf2a-33ea-4e42-91fe-ef3352b7f56e"/>
    <ds:schemaRef ds:uri="98c8c46b-f24b-4722-b4ea-0fa6af3cff7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CEDE791-7C49-42B8-8F34-BE8B8CCB5FE9}">
  <ds:schemaRefs>
    <ds:schemaRef ds:uri="98c8c46b-f24b-4722-b4ea-0fa6af3cff7b"/>
    <ds:schemaRef ds:uri="http://purl.org/dc/dcmitype/"/>
    <ds:schemaRef ds:uri="http://purl.org/dc/elements/1.1/"/>
    <ds:schemaRef ds:uri="4cc6cf2a-33ea-4e42-91fe-ef3352b7f56e"/>
    <ds:schemaRef ds:uri="http://purl.org/dc/terms/"/>
    <ds:schemaRef ds:uri="http://schemas.microsoft.com/office/infopath/2007/PartnerControls"/>
    <ds:schemaRef ds:uri="http://schemas.microsoft.com/office/2006/metadata/properties"/>
    <ds:schemaRef ds:uri="http://schemas.microsoft.com/office/2006/documentManagement/type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78</TotalTime>
  <Words>988</Words>
  <Application>Microsoft Office PowerPoint</Application>
  <PresentationFormat>On-screen Show (4:3)</PresentationFormat>
  <Paragraphs>119</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Helvetica</vt:lpstr>
      <vt:lpstr>proxima-nova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Louise Jenkins</dc:creator>
  <cp:lastModifiedBy>Nick Cassidy</cp:lastModifiedBy>
  <cp:revision>2</cp:revision>
  <dcterms:created xsi:type="dcterms:W3CDTF">2020-06-23T14:07:25Z</dcterms:created>
  <dcterms:modified xsi:type="dcterms:W3CDTF">2025-06-09T16:03:00Z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0x010100C4E37E5449D0C04ABB746406540A58A4</vt:lpwstr>
  </property>
  <property fmtid="{D5CDD505-2E9C-101B-9397-08002B2CF9AE}" pid="3" name="MediaServiceImageTags">
    <vt:lpwstr/>
  </property>
  <property fmtid="{D5CDD505-2E9C-101B-9397-08002B2CF9AE}" pid="4" name="SlidoAppVersion">
    <vt:lpwstr>1.10.0.5209</vt:lpwstr>
  </property>
</Properties>
</file>