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notesSlides/notesSlide3.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3.xml" ContentType="application/vnd.openxmlformats-officedocument.drawingml.chartshape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5" r:id="rId4"/>
  </p:sldMasterIdLst>
  <p:notesMasterIdLst>
    <p:notesMasterId r:id="rId10"/>
  </p:notesMasterIdLst>
  <p:sldIdLst>
    <p:sldId id="257" r:id="rId5"/>
    <p:sldId id="267" r:id="rId6"/>
    <p:sldId id="270" r:id="rId7"/>
    <p:sldId id="271" r:id="rId8"/>
    <p:sldId id="269" r:id="rId9"/>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24F"/>
    <a:srgbClr val="D1222B"/>
    <a:srgbClr val="2F528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41"/>
    <p:restoredTop sz="85593" autoAdjust="0"/>
  </p:normalViewPr>
  <p:slideViewPr>
    <p:cSldViewPr snapToGrid="0" snapToObjects="1">
      <p:cViewPr varScale="1">
        <p:scale>
          <a:sx n="114" d="100"/>
          <a:sy n="114" d="100"/>
        </p:scale>
        <p:origin x="1698"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k Cassidy" userId="04aadb54-5065-413d-a1dd-47b5f6cd7bb7" providerId="ADAL" clId="{5549AED9-0508-4B03-A08E-FDAB76A6D838}"/>
    <pc:docChg chg="custSel addSld delSld modSld">
      <pc:chgData name="Nick Cassidy" userId="04aadb54-5065-413d-a1dd-47b5f6cd7bb7" providerId="ADAL" clId="{5549AED9-0508-4B03-A08E-FDAB76A6D838}" dt="2026-01-29T09:55:54.363" v="1083" actId="20577"/>
      <pc:docMkLst>
        <pc:docMk/>
      </pc:docMkLst>
      <pc:sldChg chg="modSp mod">
        <pc:chgData name="Nick Cassidy" userId="04aadb54-5065-413d-a1dd-47b5f6cd7bb7" providerId="ADAL" clId="{5549AED9-0508-4B03-A08E-FDAB76A6D838}" dt="2026-01-29T09:55:54.363" v="1083" actId="20577"/>
        <pc:sldMkLst>
          <pc:docMk/>
          <pc:sldMk cId="3185331823" sldId="257"/>
        </pc:sldMkLst>
        <pc:spChg chg="mod">
          <ac:chgData name="Nick Cassidy" userId="04aadb54-5065-413d-a1dd-47b5f6cd7bb7" providerId="ADAL" clId="{5549AED9-0508-4B03-A08E-FDAB76A6D838}" dt="2026-01-29T09:55:54.363" v="1083" actId="20577"/>
          <ac:spMkLst>
            <pc:docMk/>
            <pc:sldMk cId="3185331823" sldId="257"/>
            <ac:spMk id="21" creationId="{3245A596-4BC4-624F-A0EF-296A8714DF74}"/>
          </ac:spMkLst>
        </pc:spChg>
      </pc:sldChg>
      <pc:sldChg chg="addSp modSp mod modNotesTx">
        <pc:chgData name="Nick Cassidy" userId="04aadb54-5065-413d-a1dd-47b5f6cd7bb7" providerId="ADAL" clId="{5549AED9-0508-4B03-A08E-FDAB76A6D838}" dt="2026-01-28T13:45:32.080" v="986" actId="6549"/>
        <pc:sldMkLst>
          <pc:docMk/>
          <pc:sldMk cId="749460216" sldId="267"/>
        </pc:sldMkLst>
        <pc:spChg chg="add mod">
          <ac:chgData name="Nick Cassidy" userId="04aadb54-5065-413d-a1dd-47b5f6cd7bb7" providerId="ADAL" clId="{5549AED9-0508-4B03-A08E-FDAB76A6D838}" dt="2026-01-28T13:18:21.012" v="681" actId="20577"/>
          <ac:spMkLst>
            <pc:docMk/>
            <pc:sldMk cId="749460216" sldId="267"/>
            <ac:spMk id="2" creationId="{5EEDCD8F-53B9-8179-A7AC-3F3B550F946B}"/>
          </ac:spMkLst>
        </pc:spChg>
        <pc:spChg chg="mod">
          <ac:chgData name="Nick Cassidy" userId="04aadb54-5065-413d-a1dd-47b5f6cd7bb7" providerId="ADAL" clId="{5549AED9-0508-4B03-A08E-FDAB76A6D838}" dt="2026-01-28T12:14:48.783" v="107" actId="20577"/>
          <ac:spMkLst>
            <pc:docMk/>
            <pc:sldMk cId="749460216" sldId="267"/>
            <ac:spMk id="12" creationId="{77FBA848-8C62-B1C9-58C0-4BAE1193BD49}"/>
          </ac:spMkLst>
        </pc:spChg>
        <pc:graphicFrameChg chg="add mod">
          <ac:chgData name="Nick Cassidy" userId="04aadb54-5065-413d-a1dd-47b5f6cd7bb7" providerId="ADAL" clId="{5549AED9-0508-4B03-A08E-FDAB76A6D838}" dt="2026-01-28T13:15:35.038" v="557" actId="693"/>
          <ac:graphicFrameMkLst>
            <pc:docMk/>
            <pc:sldMk cId="749460216" sldId="267"/>
            <ac:graphicFrameMk id="3" creationId="{C7786D53-1D65-6B9E-E689-8332F8756AF7}"/>
          </ac:graphicFrameMkLst>
        </pc:graphicFrameChg>
      </pc:sldChg>
      <pc:sldChg chg="modSp del mod">
        <pc:chgData name="Nick Cassidy" userId="04aadb54-5065-413d-a1dd-47b5f6cd7bb7" providerId="ADAL" clId="{5549AED9-0508-4B03-A08E-FDAB76A6D838}" dt="2026-01-28T13:20:58.229" v="682" actId="2696"/>
        <pc:sldMkLst>
          <pc:docMk/>
          <pc:sldMk cId="3057908280" sldId="268"/>
        </pc:sldMkLst>
        <pc:spChg chg="mod">
          <ac:chgData name="Nick Cassidy" userId="04aadb54-5065-413d-a1dd-47b5f6cd7bb7" providerId="ADAL" clId="{5549AED9-0508-4B03-A08E-FDAB76A6D838}" dt="2026-01-28T12:15:18.687" v="135" actId="20577"/>
          <ac:spMkLst>
            <pc:docMk/>
            <pc:sldMk cId="3057908280" sldId="268"/>
            <ac:spMk id="12" creationId="{77FBA848-8C62-B1C9-58C0-4BAE1193BD49}"/>
          </ac:spMkLst>
        </pc:spChg>
      </pc:sldChg>
      <pc:sldChg chg="addSp modSp mod">
        <pc:chgData name="Nick Cassidy" userId="04aadb54-5065-413d-a1dd-47b5f6cd7bb7" providerId="ADAL" clId="{5549AED9-0508-4B03-A08E-FDAB76A6D838}" dt="2026-01-28T13:54:09.568" v="1079" actId="20577"/>
        <pc:sldMkLst>
          <pc:docMk/>
          <pc:sldMk cId="2880511729" sldId="269"/>
        </pc:sldMkLst>
        <pc:spChg chg="add mod">
          <ac:chgData name="Nick Cassidy" userId="04aadb54-5065-413d-a1dd-47b5f6cd7bb7" providerId="ADAL" clId="{5549AED9-0508-4B03-A08E-FDAB76A6D838}" dt="2026-01-28T13:54:09.568" v="1079" actId="20577"/>
          <ac:spMkLst>
            <pc:docMk/>
            <pc:sldMk cId="2880511729" sldId="269"/>
            <ac:spMk id="2" creationId="{31C5BB48-8868-9859-5B1B-CB5B8B31B424}"/>
          </ac:spMkLst>
        </pc:spChg>
        <pc:spChg chg="mod">
          <ac:chgData name="Nick Cassidy" userId="04aadb54-5065-413d-a1dd-47b5f6cd7bb7" providerId="ADAL" clId="{5549AED9-0508-4B03-A08E-FDAB76A6D838}" dt="2026-01-28T12:15:26.776" v="158" actId="20577"/>
          <ac:spMkLst>
            <pc:docMk/>
            <pc:sldMk cId="2880511729" sldId="269"/>
            <ac:spMk id="12" creationId="{77FBA848-8C62-B1C9-58C0-4BAE1193BD49}"/>
          </ac:spMkLst>
        </pc:spChg>
      </pc:sldChg>
      <pc:sldChg chg="addSp delSp modSp add mod modNotesTx">
        <pc:chgData name="Nick Cassidy" userId="04aadb54-5065-413d-a1dd-47b5f6cd7bb7" providerId="ADAL" clId="{5549AED9-0508-4B03-A08E-FDAB76A6D838}" dt="2026-01-28T13:16:17.912" v="559" actId="6549"/>
        <pc:sldMkLst>
          <pc:docMk/>
          <pc:sldMk cId="3316515768" sldId="270"/>
        </pc:sldMkLst>
        <pc:spChg chg="del">
          <ac:chgData name="Nick Cassidy" userId="04aadb54-5065-413d-a1dd-47b5f6cd7bb7" providerId="ADAL" clId="{5549AED9-0508-4B03-A08E-FDAB76A6D838}" dt="2026-01-28T13:14:07.204" v="538" actId="478"/>
          <ac:spMkLst>
            <pc:docMk/>
            <pc:sldMk cId="3316515768" sldId="270"/>
            <ac:spMk id="2" creationId="{DF61AA9A-E6F7-EAA3-54B0-FFFDE3CC1940}"/>
          </ac:spMkLst>
        </pc:spChg>
        <pc:graphicFrameChg chg="add mod">
          <ac:chgData name="Nick Cassidy" userId="04aadb54-5065-413d-a1dd-47b5f6cd7bb7" providerId="ADAL" clId="{5549AED9-0508-4B03-A08E-FDAB76A6D838}" dt="2026-01-28T13:15:28.919" v="556" actId="693"/>
          <ac:graphicFrameMkLst>
            <pc:docMk/>
            <pc:sldMk cId="3316515768" sldId="270"/>
            <ac:graphicFrameMk id="3" creationId="{2E7E7108-94D7-0266-D900-071B22A9EADF}"/>
          </ac:graphicFrameMkLst>
        </pc:graphicFrameChg>
      </pc:sldChg>
      <pc:sldChg chg="addSp delSp modSp add mod modNotesTx">
        <pc:chgData name="Nick Cassidy" userId="04aadb54-5065-413d-a1dd-47b5f6cd7bb7" providerId="ADAL" clId="{5549AED9-0508-4B03-A08E-FDAB76A6D838}" dt="2026-01-28T13:16:20.029" v="560" actId="6549"/>
        <pc:sldMkLst>
          <pc:docMk/>
          <pc:sldMk cId="2677586352" sldId="271"/>
        </pc:sldMkLst>
        <pc:graphicFrameChg chg="add mod">
          <ac:chgData name="Nick Cassidy" userId="04aadb54-5065-413d-a1dd-47b5f6cd7bb7" providerId="ADAL" clId="{5549AED9-0508-4B03-A08E-FDAB76A6D838}" dt="2026-01-28T13:15:41.815" v="558" actId="693"/>
          <ac:graphicFrameMkLst>
            <pc:docMk/>
            <pc:sldMk cId="2677586352" sldId="271"/>
            <ac:graphicFrameMk id="2" creationId="{F34DEAC0-3DB5-D764-A933-7F4EE287C913}"/>
          </ac:graphicFrameMkLst>
        </pc:graphicFrameChg>
        <pc:graphicFrameChg chg="del">
          <ac:chgData name="Nick Cassidy" userId="04aadb54-5065-413d-a1dd-47b5f6cd7bb7" providerId="ADAL" clId="{5549AED9-0508-4B03-A08E-FDAB76A6D838}" dt="2026-01-28T13:14:40.973" v="550" actId="478"/>
          <ac:graphicFrameMkLst>
            <pc:docMk/>
            <pc:sldMk cId="2677586352" sldId="271"/>
            <ac:graphicFrameMk id="3" creationId="{E2EF003B-A85A-3078-9630-1AE9D755869A}"/>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impservihub-my.sharepoint.com/personal/nicholas_cassidy_improvementservice_org_uk/Documents/Child%20Poverty%20Support%20Statistics/Child%20Poverty%20Comparison.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https://impservihub-my.sharepoint.com/personal/nicholas_cassidy_improvementservice_org_uk/Documents/Child%20Poverty%20Support%20Statistics/Child%20Poverty%20Comparison.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Scotland</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Sheet1!$A$11</c:f>
              <c:strCache>
                <c:ptCount val="1"/>
                <c:pt idx="0">
                  <c:v>Old - data published 2024</c:v>
                </c:pt>
              </c:strCache>
            </c:strRef>
          </c:tx>
          <c:spPr>
            <a:ln w="28575" cap="rnd">
              <a:solidFill>
                <a:schemeClr val="accent1"/>
              </a:solidFill>
              <a:prstDash val="dash"/>
              <a:round/>
            </a:ln>
            <a:effectLst/>
          </c:spPr>
          <c:marker>
            <c:symbol val="none"/>
          </c:marker>
          <c:cat>
            <c:strRef>
              <c:f>Sheet1!$B$10:$K$10</c:f>
              <c:strCache>
                <c:ptCount val="10"/>
                <c:pt idx="0">
                  <c:v>2014/15</c:v>
                </c:pt>
                <c:pt idx="1">
                  <c:v>2015/16</c:v>
                </c:pt>
                <c:pt idx="2">
                  <c:v>2016/17</c:v>
                </c:pt>
                <c:pt idx="3">
                  <c:v>2017/18</c:v>
                </c:pt>
                <c:pt idx="4">
                  <c:v>2018/19</c:v>
                </c:pt>
                <c:pt idx="5">
                  <c:v>2019/20</c:v>
                </c:pt>
                <c:pt idx="6">
                  <c:v>2020/21</c:v>
                </c:pt>
                <c:pt idx="7">
                  <c:v>2021/22</c:v>
                </c:pt>
                <c:pt idx="8">
                  <c:v>2022/23</c:v>
                </c:pt>
                <c:pt idx="9">
                  <c:v>2023/24</c:v>
                </c:pt>
              </c:strCache>
            </c:strRef>
          </c:cat>
          <c:val>
            <c:numRef>
              <c:f>Sheet1!$B$11:$K$11</c:f>
              <c:numCache>
                <c:formatCode>General</c:formatCode>
                <c:ptCount val="10"/>
                <c:pt idx="0">
                  <c:v>14.038116835576005</c:v>
                </c:pt>
                <c:pt idx="1">
                  <c:v>14.452865514512277</c:v>
                </c:pt>
                <c:pt idx="2">
                  <c:v>16.242301431243224</c:v>
                </c:pt>
                <c:pt idx="3">
                  <c:v>18.028060629445786</c:v>
                </c:pt>
                <c:pt idx="4">
                  <c:v>17.917307412055656</c:v>
                </c:pt>
                <c:pt idx="5">
                  <c:v>18.868305410154363</c:v>
                </c:pt>
                <c:pt idx="6">
                  <c:v>15.956993094330937</c:v>
                </c:pt>
                <c:pt idx="7">
                  <c:v>20.765927755994916</c:v>
                </c:pt>
                <c:pt idx="8">
                  <c:v>21.818336749292516</c:v>
                </c:pt>
              </c:numCache>
            </c:numRef>
          </c:val>
          <c:smooth val="0"/>
          <c:extLst>
            <c:ext xmlns:c16="http://schemas.microsoft.com/office/drawing/2014/chart" uri="{C3380CC4-5D6E-409C-BE32-E72D297353CC}">
              <c16:uniqueId val="{00000000-5DE7-47B3-87DA-BDDFB37DEB6D}"/>
            </c:ext>
          </c:extLst>
        </c:ser>
        <c:ser>
          <c:idx val="1"/>
          <c:order val="1"/>
          <c:tx>
            <c:strRef>
              <c:f>Sheet1!$A$12</c:f>
              <c:strCache>
                <c:ptCount val="1"/>
                <c:pt idx="0">
                  <c:v>New - data published 2025</c:v>
                </c:pt>
              </c:strCache>
            </c:strRef>
          </c:tx>
          <c:spPr>
            <a:ln w="28575" cap="rnd">
              <a:solidFill>
                <a:schemeClr val="accent2"/>
              </a:solidFill>
              <a:round/>
            </a:ln>
            <a:effectLst/>
          </c:spPr>
          <c:marker>
            <c:symbol val="none"/>
          </c:marker>
          <c:cat>
            <c:strRef>
              <c:f>Sheet1!$B$10:$K$10</c:f>
              <c:strCache>
                <c:ptCount val="10"/>
                <c:pt idx="0">
                  <c:v>2014/15</c:v>
                </c:pt>
                <c:pt idx="1">
                  <c:v>2015/16</c:v>
                </c:pt>
                <c:pt idx="2">
                  <c:v>2016/17</c:v>
                </c:pt>
                <c:pt idx="3">
                  <c:v>2017/18</c:v>
                </c:pt>
                <c:pt idx="4">
                  <c:v>2018/19</c:v>
                </c:pt>
                <c:pt idx="5">
                  <c:v>2019/20</c:v>
                </c:pt>
                <c:pt idx="6">
                  <c:v>2020/21</c:v>
                </c:pt>
                <c:pt idx="7">
                  <c:v>2021/22</c:v>
                </c:pt>
                <c:pt idx="8">
                  <c:v>2022/23</c:v>
                </c:pt>
                <c:pt idx="9">
                  <c:v>2023/24</c:v>
                </c:pt>
              </c:strCache>
            </c:strRef>
          </c:cat>
          <c:val>
            <c:numRef>
              <c:f>Sheet1!$B$12:$K$12</c:f>
              <c:numCache>
                <c:formatCode>General</c:formatCode>
                <c:ptCount val="10"/>
                <c:pt idx="0">
                  <c:v>15.485973644648029</c:v>
                </c:pt>
                <c:pt idx="1">
                  <c:v>16.731650440927215</c:v>
                </c:pt>
                <c:pt idx="2">
                  <c:v>16.509494627497322</c:v>
                </c:pt>
                <c:pt idx="3">
                  <c:v>18.408972994838155</c:v>
                </c:pt>
                <c:pt idx="4">
                  <c:v>16.887541596490088</c:v>
                </c:pt>
                <c:pt idx="5">
                  <c:v>19.55787697110426</c:v>
                </c:pt>
                <c:pt idx="6">
                  <c:v>16.898134251199028</c:v>
                </c:pt>
                <c:pt idx="7">
                  <c:v>16.976085465168982</c:v>
                </c:pt>
                <c:pt idx="8">
                  <c:v>17.760223360954441</c:v>
                </c:pt>
                <c:pt idx="9">
                  <c:v>16.236905317384927</c:v>
                </c:pt>
              </c:numCache>
            </c:numRef>
          </c:val>
          <c:smooth val="0"/>
          <c:extLst>
            <c:ext xmlns:c16="http://schemas.microsoft.com/office/drawing/2014/chart" uri="{C3380CC4-5D6E-409C-BE32-E72D297353CC}">
              <c16:uniqueId val="{00000001-5DE7-47B3-87DA-BDDFB37DEB6D}"/>
            </c:ext>
          </c:extLst>
        </c:ser>
        <c:dLbls>
          <c:showLegendKey val="0"/>
          <c:showVal val="0"/>
          <c:showCatName val="0"/>
          <c:showSerName val="0"/>
          <c:showPercent val="0"/>
          <c:showBubbleSize val="0"/>
        </c:dLbls>
        <c:smooth val="0"/>
        <c:axId val="677454063"/>
        <c:axId val="677455023"/>
      </c:lineChart>
      <c:catAx>
        <c:axId val="6774540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77455023"/>
        <c:crosses val="autoZero"/>
        <c:auto val="1"/>
        <c:lblAlgn val="ctr"/>
        <c:lblOffset val="100"/>
        <c:noMultiLvlLbl val="0"/>
      </c:catAx>
      <c:valAx>
        <c:axId val="67745502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7745406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Aberdeen</a:t>
            </a:r>
            <a:r>
              <a:rPr lang="en-GB" baseline="0"/>
              <a:t> City</a:t>
            </a:r>
            <a:endParaRPr lang="en-GB"/>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lineChart>
        <c:grouping val="standard"/>
        <c:varyColors val="0"/>
        <c:ser>
          <c:idx val="0"/>
          <c:order val="0"/>
          <c:tx>
            <c:strRef>
              <c:f>Sheet1!$A$7</c:f>
              <c:strCache>
                <c:ptCount val="1"/>
                <c:pt idx="0">
                  <c:v>Old - data published 2024</c:v>
                </c:pt>
              </c:strCache>
            </c:strRef>
          </c:tx>
          <c:spPr>
            <a:ln w="28575" cap="rnd">
              <a:solidFill>
                <a:schemeClr val="accent1"/>
              </a:solidFill>
              <a:prstDash val="dash"/>
              <a:round/>
            </a:ln>
            <a:effectLst/>
          </c:spPr>
          <c:marker>
            <c:symbol val="none"/>
          </c:marker>
          <c:cat>
            <c:strRef>
              <c:f>Sheet1!$B$6:$K$6</c:f>
              <c:strCache>
                <c:ptCount val="10"/>
                <c:pt idx="0">
                  <c:v>2014/15</c:v>
                </c:pt>
                <c:pt idx="1">
                  <c:v>2015/16</c:v>
                </c:pt>
                <c:pt idx="2">
                  <c:v>2016/17</c:v>
                </c:pt>
                <c:pt idx="3">
                  <c:v>2017/18</c:v>
                </c:pt>
                <c:pt idx="4">
                  <c:v>2018/19</c:v>
                </c:pt>
                <c:pt idx="5">
                  <c:v>2019/20</c:v>
                </c:pt>
                <c:pt idx="6">
                  <c:v>2020/21</c:v>
                </c:pt>
                <c:pt idx="7">
                  <c:v>2021/22</c:v>
                </c:pt>
                <c:pt idx="8">
                  <c:v>2022/23</c:v>
                </c:pt>
                <c:pt idx="9">
                  <c:v>2023/24</c:v>
                </c:pt>
              </c:strCache>
            </c:strRef>
          </c:cat>
          <c:val>
            <c:numRef>
              <c:f>Sheet1!$B$7:$K$7</c:f>
              <c:numCache>
                <c:formatCode>General</c:formatCode>
                <c:ptCount val="10"/>
                <c:pt idx="0">
                  <c:v>9.7848467667333114</c:v>
                </c:pt>
                <c:pt idx="1">
                  <c:v>10.809134146701723</c:v>
                </c:pt>
                <c:pt idx="2">
                  <c:v>13.326703132769765</c:v>
                </c:pt>
                <c:pt idx="3">
                  <c:v>15.184809392665604</c:v>
                </c:pt>
                <c:pt idx="4">
                  <c:v>15.054689518559986</c:v>
                </c:pt>
                <c:pt idx="5">
                  <c:v>15.182226237190527</c:v>
                </c:pt>
                <c:pt idx="6">
                  <c:v>13.08223197071726</c:v>
                </c:pt>
                <c:pt idx="7">
                  <c:v>16.43335192414947</c:v>
                </c:pt>
                <c:pt idx="8">
                  <c:v>17.707451909516557</c:v>
                </c:pt>
              </c:numCache>
            </c:numRef>
          </c:val>
          <c:smooth val="0"/>
          <c:extLst>
            <c:ext xmlns:c16="http://schemas.microsoft.com/office/drawing/2014/chart" uri="{C3380CC4-5D6E-409C-BE32-E72D297353CC}">
              <c16:uniqueId val="{00000000-0D4E-4AA0-946F-35FE894CA2F6}"/>
            </c:ext>
          </c:extLst>
        </c:ser>
        <c:ser>
          <c:idx val="1"/>
          <c:order val="1"/>
          <c:tx>
            <c:strRef>
              <c:f>Sheet1!$A$8</c:f>
              <c:strCache>
                <c:ptCount val="1"/>
                <c:pt idx="0">
                  <c:v>New - data published 2025</c:v>
                </c:pt>
              </c:strCache>
            </c:strRef>
          </c:tx>
          <c:spPr>
            <a:ln w="28575" cap="rnd">
              <a:solidFill>
                <a:schemeClr val="accent2"/>
              </a:solidFill>
              <a:round/>
            </a:ln>
            <a:effectLst/>
          </c:spPr>
          <c:marker>
            <c:symbol val="none"/>
          </c:marker>
          <c:cat>
            <c:strRef>
              <c:f>Sheet1!$B$6:$K$6</c:f>
              <c:strCache>
                <c:ptCount val="10"/>
                <c:pt idx="0">
                  <c:v>2014/15</c:v>
                </c:pt>
                <c:pt idx="1">
                  <c:v>2015/16</c:v>
                </c:pt>
                <c:pt idx="2">
                  <c:v>2016/17</c:v>
                </c:pt>
                <c:pt idx="3">
                  <c:v>2017/18</c:v>
                </c:pt>
                <c:pt idx="4">
                  <c:v>2018/19</c:v>
                </c:pt>
                <c:pt idx="5">
                  <c:v>2019/20</c:v>
                </c:pt>
                <c:pt idx="6">
                  <c:v>2020/21</c:v>
                </c:pt>
                <c:pt idx="7">
                  <c:v>2021/22</c:v>
                </c:pt>
                <c:pt idx="8">
                  <c:v>2022/23</c:v>
                </c:pt>
                <c:pt idx="9">
                  <c:v>2023/24</c:v>
                </c:pt>
              </c:strCache>
            </c:strRef>
          </c:cat>
          <c:val>
            <c:numRef>
              <c:f>Sheet1!$B$8:$K$8</c:f>
              <c:numCache>
                <c:formatCode>General</c:formatCode>
                <c:ptCount val="10"/>
                <c:pt idx="0">
                  <c:v>10.637733290090514</c:v>
                </c:pt>
                <c:pt idx="1">
                  <c:v>12.54787311796521</c:v>
                </c:pt>
                <c:pt idx="2">
                  <c:v>13.749165529852261</c:v>
                </c:pt>
                <c:pt idx="3">
                  <c:v>15.526871762220356</c:v>
                </c:pt>
                <c:pt idx="4">
                  <c:v>14.356392674247026</c:v>
                </c:pt>
                <c:pt idx="5">
                  <c:v>16.128000930070336</c:v>
                </c:pt>
                <c:pt idx="6">
                  <c:v>14.141561009654529</c:v>
                </c:pt>
                <c:pt idx="7">
                  <c:v>13.776501638678615</c:v>
                </c:pt>
                <c:pt idx="8">
                  <c:v>14.536736708503737</c:v>
                </c:pt>
                <c:pt idx="9">
                  <c:v>12.145759811784835</c:v>
                </c:pt>
              </c:numCache>
            </c:numRef>
          </c:val>
          <c:smooth val="0"/>
          <c:extLst>
            <c:ext xmlns:c16="http://schemas.microsoft.com/office/drawing/2014/chart" uri="{C3380CC4-5D6E-409C-BE32-E72D297353CC}">
              <c16:uniqueId val="{00000001-0D4E-4AA0-946F-35FE894CA2F6}"/>
            </c:ext>
          </c:extLst>
        </c:ser>
        <c:dLbls>
          <c:showLegendKey val="0"/>
          <c:showVal val="0"/>
          <c:showCatName val="0"/>
          <c:showSerName val="0"/>
          <c:showPercent val="0"/>
          <c:showBubbleSize val="0"/>
        </c:dLbls>
        <c:smooth val="0"/>
        <c:axId val="677436783"/>
        <c:axId val="677430063"/>
      </c:lineChart>
      <c:catAx>
        <c:axId val="6774367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77430063"/>
        <c:crosses val="autoZero"/>
        <c:auto val="1"/>
        <c:lblAlgn val="ctr"/>
        <c:lblOffset val="100"/>
        <c:noMultiLvlLbl val="0"/>
      </c:catAx>
      <c:valAx>
        <c:axId val="67743006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7743678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IGZ  - S02001236</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Sheet1!$A$2</c:f>
              <c:strCache>
                <c:ptCount val="1"/>
                <c:pt idx="0">
                  <c:v>Old - data published 2024</c:v>
                </c:pt>
              </c:strCache>
            </c:strRef>
          </c:tx>
          <c:spPr>
            <a:ln w="28575" cap="rnd">
              <a:solidFill>
                <a:schemeClr val="accent1"/>
              </a:solidFill>
              <a:prstDash val="dash"/>
              <a:round/>
            </a:ln>
            <a:effectLst/>
          </c:spPr>
          <c:marker>
            <c:symbol val="none"/>
          </c:marker>
          <c:cat>
            <c:strRef>
              <c:f>Sheet1!$B$1:$K$1</c:f>
              <c:strCache>
                <c:ptCount val="10"/>
                <c:pt idx="0">
                  <c:v>2014/15</c:v>
                </c:pt>
                <c:pt idx="1">
                  <c:v>2015/16</c:v>
                </c:pt>
                <c:pt idx="2">
                  <c:v>2016/17</c:v>
                </c:pt>
                <c:pt idx="3">
                  <c:v>2017/18</c:v>
                </c:pt>
                <c:pt idx="4">
                  <c:v>2018/19</c:v>
                </c:pt>
                <c:pt idx="5">
                  <c:v>2019/20</c:v>
                </c:pt>
                <c:pt idx="6">
                  <c:v>2020/21</c:v>
                </c:pt>
                <c:pt idx="7">
                  <c:v>2021/22</c:v>
                </c:pt>
                <c:pt idx="8">
                  <c:v>2022/23</c:v>
                </c:pt>
                <c:pt idx="9">
                  <c:v>2023/24</c:v>
                </c:pt>
              </c:strCache>
            </c:strRef>
          </c:cat>
          <c:val>
            <c:numRef>
              <c:f>Sheet1!$B$2:$K$2</c:f>
              <c:numCache>
                <c:formatCode>0.0</c:formatCode>
                <c:ptCount val="10"/>
                <c:pt idx="0">
                  <c:v>4.7072330654420211</c:v>
                </c:pt>
                <c:pt idx="1">
                  <c:v>8.4023668639053248</c:v>
                </c:pt>
                <c:pt idx="2">
                  <c:v>7.9422382671480145</c:v>
                </c:pt>
                <c:pt idx="3">
                  <c:v>9.5959595959595951</c:v>
                </c:pt>
                <c:pt idx="4">
                  <c:v>10.246433203631646</c:v>
                </c:pt>
                <c:pt idx="5">
                  <c:v>9.5854922279792731</c:v>
                </c:pt>
                <c:pt idx="6">
                  <c:v>9.3951093951093956</c:v>
                </c:pt>
                <c:pt idx="7">
                  <c:v>11.811023622047244</c:v>
                </c:pt>
                <c:pt idx="8">
                  <c:v>11.41732283464567</c:v>
                </c:pt>
              </c:numCache>
            </c:numRef>
          </c:val>
          <c:smooth val="0"/>
          <c:extLst>
            <c:ext xmlns:c16="http://schemas.microsoft.com/office/drawing/2014/chart" uri="{C3380CC4-5D6E-409C-BE32-E72D297353CC}">
              <c16:uniqueId val="{00000000-2255-4D12-9B61-8AA71AC8D360}"/>
            </c:ext>
          </c:extLst>
        </c:ser>
        <c:ser>
          <c:idx val="1"/>
          <c:order val="1"/>
          <c:tx>
            <c:strRef>
              <c:f>Sheet1!$A$3</c:f>
              <c:strCache>
                <c:ptCount val="1"/>
                <c:pt idx="0">
                  <c:v>New - data published 2025</c:v>
                </c:pt>
              </c:strCache>
            </c:strRef>
          </c:tx>
          <c:spPr>
            <a:ln w="28575" cap="rnd">
              <a:solidFill>
                <a:schemeClr val="accent2"/>
              </a:solidFill>
              <a:round/>
            </a:ln>
            <a:effectLst/>
          </c:spPr>
          <c:marker>
            <c:symbol val="none"/>
          </c:marker>
          <c:cat>
            <c:strRef>
              <c:f>Sheet1!$B$1:$K$1</c:f>
              <c:strCache>
                <c:ptCount val="10"/>
                <c:pt idx="0">
                  <c:v>2014/15</c:v>
                </c:pt>
                <c:pt idx="1">
                  <c:v>2015/16</c:v>
                </c:pt>
                <c:pt idx="2">
                  <c:v>2016/17</c:v>
                </c:pt>
                <c:pt idx="3">
                  <c:v>2017/18</c:v>
                </c:pt>
                <c:pt idx="4">
                  <c:v>2018/19</c:v>
                </c:pt>
                <c:pt idx="5">
                  <c:v>2019/20</c:v>
                </c:pt>
                <c:pt idx="6">
                  <c:v>2020/21</c:v>
                </c:pt>
                <c:pt idx="7">
                  <c:v>2021/22</c:v>
                </c:pt>
                <c:pt idx="8">
                  <c:v>2022/23</c:v>
                </c:pt>
                <c:pt idx="9">
                  <c:v>2023/24</c:v>
                </c:pt>
              </c:strCache>
            </c:strRef>
          </c:cat>
          <c:val>
            <c:numRef>
              <c:f>Sheet1!$B$3:$K$3</c:f>
              <c:numCache>
                <c:formatCode>General</c:formatCode>
                <c:ptCount val="10"/>
                <c:pt idx="0">
                  <c:v>5.8230683090705488</c:v>
                </c:pt>
                <c:pt idx="1">
                  <c:v>8.7008343265792618</c:v>
                </c:pt>
                <c:pt idx="2">
                  <c:v>7.0743405275779381</c:v>
                </c:pt>
                <c:pt idx="3">
                  <c:v>9.5597484276729574</c:v>
                </c:pt>
                <c:pt idx="4">
                  <c:v>9.8798397863818437</c:v>
                </c:pt>
                <c:pt idx="5">
                  <c:v>11.213720316622691</c:v>
                </c:pt>
                <c:pt idx="6">
                  <c:v>9.5854922279792731</c:v>
                </c:pt>
                <c:pt idx="7">
                  <c:v>9.0551181102362204</c:v>
                </c:pt>
                <c:pt idx="8">
                  <c:v>9.5800524934383215</c:v>
                </c:pt>
                <c:pt idx="9">
                  <c:v>7.8141699117337939</c:v>
                </c:pt>
              </c:numCache>
            </c:numRef>
          </c:val>
          <c:smooth val="0"/>
          <c:extLst>
            <c:ext xmlns:c16="http://schemas.microsoft.com/office/drawing/2014/chart" uri="{C3380CC4-5D6E-409C-BE32-E72D297353CC}">
              <c16:uniqueId val="{00000001-2255-4D12-9B61-8AA71AC8D360}"/>
            </c:ext>
          </c:extLst>
        </c:ser>
        <c:dLbls>
          <c:showLegendKey val="0"/>
          <c:showVal val="0"/>
          <c:showCatName val="0"/>
          <c:showSerName val="0"/>
          <c:showPercent val="0"/>
          <c:showBubbleSize val="0"/>
        </c:dLbls>
        <c:smooth val="0"/>
        <c:axId val="1104819711"/>
        <c:axId val="1104822111"/>
      </c:lineChart>
      <c:catAx>
        <c:axId val="11048197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4822111"/>
        <c:crosses val="autoZero"/>
        <c:auto val="1"/>
        <c:lblAlgn val="ctr"/>
        <c:lblOffset val="100"/>
        <c:noMultiLvlLbl val="0"/>
      </c:catAx>
      <c:valAx>
        <c:axId val="1104822111"/>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481971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0.65278</cdr:x>
      <cdr:y>0.17824</cdr:y>
    </cdr:from>
    <cdr:to>
      <cdr:x>0.65278</cdr:x>
      <cdr:y>0.80493</cdr:y>
    </cdr:to>
    <cdr:cxnSp macro="">
      <cdr:nvCxnSpPr>
        <cdr:cNvPr id="2" name="Straight Connector 1">
          <a:extLst xmlns:a="http://schemas.openxmlformats.org/drawingml/2006/main">
            <a:ext uri="{FF2B5EF4-FFF2-40B4-BE49-F238E27FC236}">
              <a16:creationId xmlns:a16="http://schemas.microsoft.com/office/drawing/2014/main" id="{213908D2-3485-0D54-9E7A-11B4962B9FBD}"/>
            </a:ext>
          </a:extLst>
        </cdr:cNvPr>
        <cdr:cNvCxnSpPr/>
      </cdr:nvCxnSpPr>
      <cdr:spPr>
        <a:xfrm xmlns:a="http://schemas.openxmlformats.org/drawingml/2006/main">
          <a:off x="3630339" y="501922"/>
          <a:ext cx="0" cy="1764757"/>
        </a:xfrm>
        <a:prstGeom xmlns:a="http://schemas.openxmlformats.org/drawingml/2006/main" prst="line">
          <a:avLst/>
        </a:prstGeom>
      </cdr:spPr>
      <cdr:style>
        <a:lnRef xmlns:a="http://schemas.openxmlformats.org/drawingml/2006/main" idx="2">
          <a:schemeClr val="dk1"/>
        </a:lnRef>
        <a:fillRef xmlns:a="http://schemas.openxmlformats.org/drawingml/2006/main" idx="0">
          <a:schemeClr val="dk1"/>
        </a:fillRef>
        <a:effectRef xmlns:a="http://schemas.openxmlformats.org/drawingml/2006/main" idx="1">
          <a:schemeClr val="dk1"/>
        </a:effectRef>
        <a:fontRef xmlns:a="http://schemas.openxmlformats.org/drawingml/2006/main" idx="minor">
          <a:schemeClr val="tx1"/>
        </a:fontRef>
      </cdr:style>
    </cdr:cxnSp>
  </cdr:relSizeAnchor>
</c:userShapes>
</file>

<file path=ppt/drawings/drawing2.xml><?xml version="1.0" encoding="utf-8"?>
<c:userShapes xmlns:c="http://schemas.openxmlformats.org/drawingml/2006/chart">
  <cdr:relSizeAnchor xmlns:cdr="http://schemas.openxmlformats.org/drawingml/2006/chartDrawing">
    <cdr:from>
      <cdr:x>0.65278</cdr:x>
      <cdr:y>0.15741</cdr:y>
    </cdr:from>
    <cdr:to>
      <cdr:x>0.65278</cdr:x>
      <cdr:y>0.78153</cdr:y>
    </cdr:to>
    <cdr:cxnSp macro="">
      <cdr:nvCxnSpPr>
        <cdr:cNvPr id="2" name="Straight Connector 1">
          <a:extLst xmlns:a="http://schemas.openxmlformats.org/drawingml/2006/main">
            <a:ext uri="{FF2B5EF4-FFF2-40B4-BE49-F238E27FC236}">
              <a16:creationId xmlns:a16="http://schemas.microsoft.com/office/drawing/2014/main" id="{8F6BBD50-97A1-A22B-F643-07E6332D6982}"/>
            </a:ext>
          </a:extLst>
        </cdr:cNvPr>
        <cdr:cNvCxnSpPr/>
      </cdr:nvCxnSpPr>
      <cdr:spPr>
        <a:xfrm xmlns:a="http://schemas.openxmlformats.org/drawingml/2006/main">
          <a:off x="5014956" y="576666"/>
          <a:ext cx="0" cy="2286453"/>
        </a:xfrm>
        <a:prstGeom xmlns:a="http://schemas.openxmlformats.org/drawingml/2006/main" prst="line">
          <a:avLst/>
        </a:prstGeom>
      </cdr:spPr>
      <cdr:style>
        <a:lnRef xmlns:a="http://schemas.openxmlformats.org/drawingml/2006/main" idx="2">
          <a:schemeClr val="dk1"/>
        </a:lnRef>
        <a:fillRef xmlns:a="http://schemas.openxmlformats.org/drawingml/2006/main" idx="0">
          <a:schemeClr val="dk1"/>
        </a:fillRef>
        <a:effectRef xmlns:a="http://schemas.openxmlformats.org/drawingml/2006/main" idx="1">
          <a:schemeClr val="dk1"/>
        </a:effectRef>
        <a:fontRef xmlns:a="http://schemas.openxmlformats.org/drawingml/2006/main" idx="minor">
          <a:schemeClr val="tx1"/>
        </a:fontRef>
      </cdr:style>
    </cdr:cxnSp>
  </cdr:relSizeAnchor>
</c:userShapes>
</file>

<file path=ppt/drawings/drawing3.xml><?xml version="1.0" encoding="utf-8"?>
<c:userShapes xmlns:c="http://schemas.openxmlformats.org/drawingml/2006/chart">
  <cdr:relSizeAnchor xmlns:cdr="http://schemas.openxmlformats.org/drawingml/2006/chartDrawing">
    <cdr:from>
      <cdr:x>0.65661</cdr:x>
      <cdr:y>0.17044</cdr:y>
    </cdr:from>
    <cdr:to>
      <cdr:x>0.65661</cdr:x>
      <cdr:y>0.80371</cdr:y>
    </cdr:to>
    <cdr:cxnSp macro="">
      <cdr:nvCxnSpPr>
        <cdr:cNvPr id="3" name="Straight Connector 2">
          <a:extLst xmlns:a="http://schemas.openxmlformats.org/drawingml/2006/main">
            <a:ext uri="{FF2B5EF4-FFF2-40B4-BE49-F238E27FC236}">
              <a16:creationId xmlns:a16="http://schemas.microsoft.com/office/drawing/2014/main" id="{0D674BE9-8915-4D2C-D8CA-5210FC1C7B2D}"/>
            </a:ext>
          </a:extLst>
        </cdr:cNvPr>
        <cdr:cNvCxnSpPr/>
      </cdr:nvCxnSpPr>
      <cdr:spPr>
        <a:xfrm xmlns:a="http://schemas.openxmlformats.org/drawingml/2006/main">
          <a:off x="5385880" y="610349"/>
          <a:ext cx="0" cy="2267759"/>
        </a:xfrm>
        <a:prstGeom xmlns:a="http://schemas.openxmlformats.org/drawingml/2006/main" prst="line">
          <a:avLst/>
        </a:prstGeom>
      </cdr:spPr>
      <cdr:style>
        <a:lnRef xmlns:a="http://schemas.openxmlformats.org/drawingml/2006/main" idx="2">
          <a:schemeClr val="dk1"/>
        </a:lnRef>
        <a:fillRef xmlns:a="http://schemas.openxmlformats.org/drawingml/2006/main" idx="0">
          <a:schemeClr val="dk1"/>
        </a:fillRef>
        <a:effectRef xmlns:a="http://schemas.openxmlformats.org/drawingml/2006/main" idx="1">
          <a:schemeClr val="dk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7F7D04-E6AB-4966-9071-854166125879}" type="datetimeFigureOut">
              <a:rPr lang="en-GB" smtClean="0"/>
              <a:t>29/01/2026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D9A806-2EF8-4735-862D-2E2A063DC83C}" type="slidenum">
              <a:rPr lang="en-GB" smtClean="0"/>
              <a:t>‹#›</a:t>
            </a:fld>
            <a:endParaRPr lang="en-GB"/>
          </a:p>
        </p:txBody>
      </p:sp>
    </p:spTree>
    <p:extLst>
      <p:ext uri="{BB962C8B-B14F-4D97-AF65-F5344CB8AC3E}">
        <p14:creationId xmlns:p14="http://schemas.microsoft.com/office/powerpoint/2010/main" val="1611603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Started new collection and will aim for October again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Data for child poverty is different – due to changes in historic data which always happens, but also new method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This year DWP  have updated their approach so that it now includes Scottish Child Payment as an income source for the first time and then backdated this approach to all historic years. </a:t>
            </a:r>
          </a:p>
          <a:p>
            <a:endParaRPr lang="en-GB" dirty="0"/>
          </a:p>
        </p:txBody>
      </p:sp>
      <p:sp>
        <p:nvSpPr>
          <p:cNvPr id="4" name="Slide Number Placeholder 3"/>
          <p:cNvSpPr>
            <a:spLocks noGrp="1"/>
          </p:cNvSpPr>
          <p:nvPr>
            <p:ph type="sldNum" sz="quarter" idx="5"/>
          </p:nvPr>
        </p:nvSpPr>
        <p:spPr/>
        <p:txBody>
          <a:bodyPr/>
          <a:lstStyle/>
          <a:p>
            <a:fld id="{FAD9A806-2EF8-4735-862D-2E2A063DC83C}" type="slidenum">
              <a:rPr lang="en-GB" smtClean="0"/>
              <a:t>2</a:t>
            </a:fld>
            <a:endParaRPr lang="en-GB"/>
          </a:p>
        </p:txBody>
      </p:sp>
    </p:spTree>
    <p:extLst>
      <p:ext uri="{BB962C8B-B14F-4D97-AF65-F5344CB8AC3E}">
        <p14:creationId xmlns:p14="http://schemas.microsoft.com/office/powerpoint/2010/main" val="20592051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32442-BE86-C3FF-32CA-BF08A42861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44306F-C9DE-62D3-A3B6-BC0B505B0A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AC6CE9-0235-EB1B-9A23-9E9278DEE61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60D1E36-F637-84AC-61DF-E0BC79FDC69B}"/>
              </a:ext>
            </a:extLst>
          </p:cNvPr>
          <p:cNvSpPr>
            <a:spLocks noGrp="1"/>
          </p:cNvSpPr>
          <p:nvPr>
            <p:ph type="sldNum" sz="quarter" idx="5"/>
          </p:nvPr>
        </p:nvSpPr>
        <p:spPr/>
        <p:txBody>
          <a:bodyPr/>
          <a:lstStyle/>
          <a:p>
            <a:fld id="{FAD9A806-2EF8-4735-862D-2E2A063DC83C}" type="slidenum">
              <a:rPr lang="en-GB" smtClean="0"/>
              <a:t>3</a:t>
            </a:fld>
            <a:endParaRPr lang="en-GB"/>
          </a:p>
        </p:txBody>
      </p:sp>
    </p:spTree>
    <p:extLst>
      <p:ext uri="{BB962C8B-B14F-4D97-AF65-F5344CB8AC3E}">
        <p14:creationId xmlns:p14="http://schemas.microsoft.com/office/powerpoint/2010/main" val="3191289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AFE98-5EE1-02B5-2D4F-9EADF55D0D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25FE7C-B581-831D-86F8-8C6E09FE38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FBD392-D5D3-0E01-A23A-CEA2433A009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A28927A-689C-ADEF-1442-43296FFB80AF}"/>
              </a:ext>
            </a:extLst>
          </p:cNvPr>
          <p:cNvSpPr>
            <a:spLocks noGrp="1"/>
          </p:cNvSpPr>
          <p:nvPr>
            <p:ph type="sldNum" sz="quarter" idx="5"/>
          </p:nvPr>
        </p:nvSpPr>
        <p:spPr/>
        <p:txBody>
          <a:bodyPr/>
          <a:lstStyle/>
          <a:p>
            <a:fld id="{FAD9A806-2EF8-4735-862D-2E2A063DC83C}" type="slidenum">
              <a:rPr lang="en-GB" smtClean="0"/>
              <a:t>4</a:t>
            </a:fld>
            <a:endParaRPr lang="en-GB"/>
          </a:p>
        </p:txBody>
      </p:sp>
    </p:spTree>
    <p:extLst>
      <p:ext uri="{BB962C8B-B14F-4D97-AF65-F5344CB8AC3E}">
        <p14:creationId xmlns:p14="http://schemas.microsoft.com/office/powerpoint/2010/main" val="13477632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GB"/>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08E2A554-AE14-CB41-AE8E-78E7B10B9E21}"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2262582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08E2A554-AE14-CB41-AE8E-78E7B10B9E21}"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1059669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7" y="1282304"/>
            <a:ext cx="7886700" cy="2139553"/>
          </a:xfrm>
        </p:spPr>
        <p:txBody>
          <a:bodyPr anchor="b"/>
          <a:lstStyle>
            <a:lvl1pPr>
              <a:defRPr sz="4500"/>
            </a:lvl1pPr>
          </a:lstStyle>
          <a:p>
            <a:r>
              <a:rPr lang="en-GB"/>
              <a:t>Click to edit Master title style</a:t>
            </a:r>
            <a:endParaRPr lang="en-US" dirty="0"/>
          </a:p>
        </p:txBody>
      </p:sp>
      <p:sp>
        <p:nvSpPr>
          <p:cNvPr id="3" name="Text Placeholder 2"/>
          <p:cNvSpPr>
            <a:spLocks noGrp="1"/>
          </p:cNvSpPr>
          <p:nvPr>
            <p:ph type="body" idx="1"/>
          </p:nvPr>
        </p:nvSpPr>
        <p:spPr>
          <a:xfrm>
            <a:off x="623887"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08E2A554-AE14-CB41-AE8E-78E7B10B9E21}"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2916457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28650" y="1369218"/>
            <a:ext cx="3886200" cy="326350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29150" y="1369218"/>
            <a:ext cx="3886200" cy="326350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08E2A554-AE14-CB41-AE8E-78E7B10B9E21}" type="datetimeFigureOut">
              <a:rPr lang="en-US" smtClean="0"/>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1108365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GB"/>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08E2A554-AE14-CB41-AE8E-78E7B10B9E21}" type="datetimeFigureOut">
              <a:rPr lang="en-US" smtClean="0"/>
              <a:t>1/29/2026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505332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08E2A554-AE14-CB41-AE8E-78E7B10B9E21}" type="datetimeFigureOut">
              <a:rPr lang="en-US" smtClean="0"/>
              <a:t>1/29/2026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9642803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E2A554-AE14-CB41-AE8E-78E7B10B9E21}" type="datetimeFigureOut">
              <a:rPr lang="en-US" smtClean="0"/>
              <a:t>1/29/2026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2112237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GB"/>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08E2A554-AE14-CB41-AE8E-78E7B10B9E21}" type="datetimeFigureOut">
              <a:rPr lang="en-US" smtClean="0"/>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4115377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GB"/>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08E2A554-AE14-CB41-AE8E-78E7B10B9E21}" type="datetimeFigureOut">
              <a:rPr lang="en-US" smtClean="0"/>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1720174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08E2A554-AE14-CB41-AE8E-78E7B10B9E21}"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22210668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3"/>
            <a:ext cx="1971675" cy="4358879"/>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28650" y="273843"/>
            <a:ext cx="5800725" cy="435887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08E2A554-AE14-CB41-AE8E-78E7B10B9E21}"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110283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28650" y="1369218"/>
            <a:ext cx="7886700" cy="326350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08E2A554-AE14-CB41-AE8E-78E7B10B9E21}" type="datetimeFigureOut">
              <a:rPr lang="en-US" smtClean="0"/>
              <a:t>1/29/2026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F72B1056-3B3C-EB44-975C-54A882B718DE}" type="slidenum">
              <a:rPr lang="en-US" smtClean="0"/>
              <a:t>‹#›</a:t>
            </a:fld>
            <a:endParaRPr lang="en-US"/>
          </a:p>
        </p:txBody>
      </p:sp>
    </p:spTree>
    <p:extLst>
      <p:ext uri="{BB962C8B-B14F-4D97-AF65-F5344CB8AC3E}">
        <p14:creationId xmlns:p14="http://schemas.microsoft.com/office/powerpoint/2010/main" val="186963771"/>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3" Type="http://schemas.openxmlformats.org/officeDocument/2006/relationships/hyperlink" Target="https://improvementservice.shinyapps.io/CPOP/" TargetMode="External"/><Relationship Id="rId2" Type="http://schemas.openxmlformats.org/officeDocument/2006/relationships/image" Target="../media/image1.e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riangle 8">
            <a:extLst>
              <a:ext uri="{FF2B5EF4-FFF2-40B4-BE49-F238E27FC236}">
                <a16:creationId xmlns:a16="http://schemas.microsoft.com/office/drawing/2014/main" id="{97915D97-B1D3-1C4F-AB15-DB7B1C539A03}"/>
              </a:ext>
            </a:extLst>
          </p:cNvPr>
          <p:cNvSpPr/>
          <p:nvPr/>
        </p:nvSpPr>
        <p:spPr>
          <a:xfrm rot="5400000">
            <a:off x="-126266" y="2076214"/>
            <a:ext cx="5157789" cy="1005361"/>
          </a:xfrm>
          <a:prstGeom prst="triangle">
            <a:avLst/>
          </a:prstGeom>
          <a:solidFill>
            <a:srgbClr val="D1222B"/>
          </a:solidFill>
          <a:ln w="28575">
            <a:solidFill>
              <a:srgbClr val="D1222B">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 name="Rectangle 3">
            <a:extLst>
              <a:ext uri="{FF2B5EF4-FFF2-40B4-BE49-F238E27FC236}">
                <a16:creationId xmlns:a16="http://schemas.microsoft.com/office/drawing/2014/main" id="{47A96C94-5274-3F4D-9C67-9934585AB39F}"/>
              </a:ext>
            </a:extLst>
          </p:cNvPr>
          <p:cNvSpPr/>
          <p:nvPr/>
        </p:nvSpPr>
        <p:spPr>
          <a:xfrm>
            <a:off x="0" y="-1"/>
            <a:ext cx="1956806" cy="5143500"/>
          </a:xfrm>
          <a:prstGeom prst="rect">
            <a:avLst/>
          </a:prstGeom>
          <a:solidFill>
            <a:srgbClr val="00324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 name="Title 20">
            <a:extLst>
              <a:ext uri="{FF2B5EF4-FFF2-40B4-BE49-F238E27FC236}">
                <a16:creationId xmlns:a16="http://schemas.microsoft.com/office/drawing/2014/main" id="{3245A596-4BC4-624F-A0EF-296A8714DF74}"/>
              </a:ext>
            </a:extLst>
          </p:cNvPr>
          <p:cNvSpPr txBox="1">
            <a:spLocks noGrp="1"/>
          </p:cNvSpPr>
          <p:nvPr>
            <p:ph type="title" idx="4294967295"/>
          </p:nvPr>
        </p:nvSpPr>
        <p:spPr>
          <a:xfrm>
            <a:off x="3243586" y="2366329"/>
            <a:ext cx="5004302" cy="1077218"/>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3200" i="0" u="none" strike="noStrike" kern="1200" cap="none" spc="0" normalizeH="0" baseline="0" noProof="0">
                <a:ln>
                  <a:noFill/>
                </a:ln>
                <a:solidFill>
                  <a:srgbClr val="000000"/>
                </a:solidFill>
                <a:effectLst/>
                <a:uLnTx/>
                <a:uFillTx/>
                <a:latin typeface="+mj-lt"/>
                <a:ea typeface="Calibri Light"/>
                <a:cs typeface="Calibri Light"/>
              </a:rPr>
              <a:t>CMN CPOP </a:t>
            </a:r>
            <a:r>
              <a:rPr lang="en-GB" sz="3200" i="0" u="none" strike="noStrike" kern="1200" cap="none" spc="0" normalizeH="0" baseline="0" noProof="0" dirty="0">
                <a:ln>
                  <a:noFill/>
                </a:ln>
                <a:solidFill>
                  <a:srgbClr val="000000"/>
                </a:solidFill>
                <a:effectLst/>
                <a:uLnTx/>
                <a:uFillTx/>
                <a:latin typeface="+mj-lt"/>
                <a:ea typeface="Calibri Light"/>
                <a:cs typeface="Calibri Light"/>
              </a:rPr>
              <a:t>Update</a:t>
            </a:r>
            <a:br>
              <a:rPr lang="en-GB" sz="3200" i="0" u="none" strike="noStrike" kern="1200" cap="none" spc="0" normalizeH="0" baseline="0" noProof="0" dirty="0">
                <a:ln>
                  <a:noFill/>
                </a:ln>
                <a:solidFill>
                  <a:srgbClr val="000000"/>
                </a:solidFill>
                <a:effectLst/>
                <a:uLnTx/>
                <a:uFillTx/>
                <a:latin typeface="+mj-lt"/>
                <a:ea typeface="Calibri Light"/>
                <a:cs typeface="Calibri Light"/>
              </a:rPr>
            </a:br>
            <a:r>
              <a:rPr lang="en-GB" sz="3200" i="0" u="none" strike="noStrike" kern="1200" cap="none" spc="0" normalizeH="0" baseline="0" noProof="0" dirty="0">
                <a:ln>
                  <a:noFill/>
                </a:ln>
                <a:solidFill>
                  <a:srgbClr val="000000"/>
                </a:solidFill>
                <a:effectLst/>
                <a:uLnTx/>
                <a:uFillTx/>
                <a:latin typeface="+mj-lt"/>
                <a:ea typeface="Calibri Light"/>
                <a:cs typeface="Calibri Light"/>
              </a:rPr>
              <a:t>2</a:t>
            </a:r>
            <a:r>
              <a:rPr lang="en-GB" sz="3200" i="0" u="none" strike="noStrike" kern="1200" cap="none" spc="0" normalizeH="0" baseline="30000" noProof="0" dirty="0">
                <a:ln>
                  <a:noFill/>
                </a:ln>
                <a:solidFill>
                  <a:srgbClr val="000000"/>
                </a:solidFill>
                <a:effectLst/>
                <a:uLnTx/>
                <a:uFillTx/>
                <a:latin typeface="+mj-lt"/>
                <a:ea typeface="Calibri Light"/>
                <a:cs typeface="Calibri Light"/>
              </a:rPr>
              <a:t>nd</a:t>
            </a:r>
            <a:r>
              <a:rPr lang="en-GB" sz="3200" i="0" u="none" strike="noStrike" kern="1200" cap="none" spc="0" normalizeH="0" baseline="0" noProof="0" dirty="0">
                <a:ln>
                  <a:noFill/>
                </a:ln>
                <a:solidFill>
                  <a:srgbClr val="000000"/>
                </a:solidFill>
                <a:effectLst/>
                <a:uLnTx/>
                <a:uFillTx/>
                <a:latin typeface="+mj-lt"/>
                <a:ea typeface="Calibri Light"/>
                <a:cs typeface="Calibri Light"/>
              </a:rPr>
              <a:t> February 2026</a:t>
            </a:r>
          </a:p>
        </p:txBody>
      </p:sp>
      <p:sp>
        <p:nvSpPr>
          <p:cNvPr id="25" name="Triangle 24">
            <a:extLst>
              <a:ext uri="{FF2B5EF4-FFF2-40B4-BE49-F238E27FC236}">
                <a16:creationId xmlns:a16="http://schemas.microsoft.com/office/drawing/2014/main" id="{9A6DEA15-8065-4B49-A09D-A22E57EDB3C0}"/>
              </a:ext>
            </a:extLst>
          </p:cNvPr>
          <p:cNvSpPr/>
          <p:nvPr/>
        </p:nvSpPr>
        <p:spPr>
          <a:xfrm rot="5400000">
            <a:off x="-199864" y="2149812"/>
            <a:ext cx="5157790" cy="858165"/>
          </a:xfrm>
          <a:prstGeom prst="triangle">
            <a:avLst/>
          </a:prstGeom>
          <a:solidFill>
            <a:srgbClr val="00324F"/>
          </a:solidFill>
          <a:ln w="28575">
            <a:solidFill>
              <a:srgbClr val="00324F">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5" name="Picture 4">
            <a:extLst>
              <a:ext uri="{FF2B5EF4-FFF2-40B4-BE49-F238E27FC236}">
                <a16:creationId xmlns:a16="http://schemas.microsoft.com/office/drawing/2014/main" id="{C9B4CDC7-F157-EE43-81A7-294E115357CF}"/>
              </a:ext>
            </a:extLst>
          </p:cNvPr>
          <p:cNvPicPr>
            <a:picLocks noChangeAspect="1"/>
          </p:cNvPicPr>
          <p:nvPr/>
        </p:nvPicPr>
        <p:blipFill>
          <a:blip r:embed="rId2"/>
          <a:stretch>
            <a:fillRect/>
          </a:stretch>
        </p:blipFill>
        <p:spPr>
          <a:xfrm>
            <a:off x="360574" y="1962346"/>
            <a:ext cx="1676252" cy="843575"/>
          </a:xfrm>
          <a:prstGeom prst="rect">
            <a:avLst/>
          </a:prstGeom>
        </p:spPr>
      </p:pic>
      <p:sp>
        <p:nvSpPr>
          <p:cNvPr id="8" name="TextBox 7">
            <a:extLst>
              <a:ext uri="{FF2B5EF4-FFF2-40B4-BE49-F238E27FC236}">
                <a16:creationId xmlns:a16="http://schemas.microsoft.com/office/drawing/2014/main" id="{3F936AEF-BA07-9443-8793-A9A49485A72C}"/>
              </a:ext>
            </a:extLst>
          </p:cNvPr>
          <p:cNvSpPr txBox="1"/>
          <p:nvPr/>
        </p:nvSpPr>
        <p:spPr>
          <a:xfrm>
            <a:off x="281168" y="3096288"/>
            <a:ext cx="1824237" cy="611706"/>
          </a:xfrm>
          <a:prstGeom prst="rect">
            <a:avLst/>
          </a:prstGeom>
          <a:noFill/>
        </p:spPr>
        <p:txBody>
          <a:bodyPr wrap="square" rtlCol="0">
            <a:spAutoFit/>
          </a:bodyPr>
          <a:lstStyle/>
          <a:p>
            <a:r>
              <a:rPr lang="en-US" sz="1125" i="1" dirty="0">
                <a:solidFill>
                  <a:schemeClr val="bg1"/>
                </a:solidFill>
                <a:latin typeface="Helvetica" pitchFamily="2" charset="0"/>
                <a:cs typeface="Arial" panose="020B0604020202020204" pitchFamily="34" charset="0"/>
              </a:rPr>
              <a:t>The ‘go to’ </a:t>
            </a:r>
            <a:r>
              <a:rPr lang="en-US" sz="1125" i="1" dirty="0" err="1">
                <a:solidFill>
                  <a:schemeClr val="bg1"/>
                </a:solidFill>
                <a:latin typeface="Helvetica" pitchFamily="2" charset="0"/>
                <a:cs typeface="Arial" panose="020B0604020202020204" pitchFamily="34" charset="0"/>
              </a:rPr>
              <a:t>organisation</a:t>
            </a:r>
            <a:r>
              <a:rPr lang="en-US" sz="1125" i="1" dirty="0">
                <a:solidFill>
                  <a:schemeClr val="bg1"/>
                </a:solidFill>
                <a:latin typeface="Helvetica" pitchFamily="2" charset="0"/>
                <a:cs typeface="Arial" panose="020B0604020202020204" pitchFamily="34" charset="0"/>
              </a:rPr>
              <a:t> for Local Government improvement in Scotland</a:t>
            </a:r>
          </a:p>
        </p:txBody>
      </p:sp>
      <p:cxnSp>
        <p:nvCxnSpPr>
          <p:cNvPr id="17" name="Straight Connector 16">
            <a:extLst>
              <a:ext uri="{FF2B5EF4-FFF2-40B4-BE49-F238E27FC236}">
                <a16:creationId xmlns:a16="http://schemas.microsoft.com/office/drawing/2014/main" id="{77EED639-697D-B04A-AD5F-D244687083BB}"/>
              </a:ext>
            </a:extLst>
          </p:cNvPr>
          <p:cNvCxnSpPr>
            <a:cxnSpLocks/>
          </p:cNvCxnSpPr>
          <p:nvPr/>
        </p:nvCxnSpPr>
        <p:spPr>
          <a:xfrm>
            <a:off x="346433" y="2951104"/>
            <a:ext cx="1690393"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53318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340EA-B48B-9207-9A63-668592DA435F}"/>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BA3A7446-C627-604D-E5A9-5367F735036D}"/>
              </a:ext>
            </a:extLst>
          </p:cNvPr>
          <p:cNvCxnSpPr>
            <a:cxnSpLocks/>
          </p:cNvCxnSpPr>
          <p:nvPr/>
        </p:nvCxnSpPr>
        <p:spPr>
          <a:xfrm>
            <a:off x="260252" y="686734"/>
            <a:ext cx="8623496" cy="0"/>
          </a:xfrm>
          <a:prstGeom prst="line">
            <a:avLst/>
          </a:prstGeom>
          <a:ln w="19050">
            <a:solidFill>
              <a:srgbClr val="03243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A416121C-D2D9-C3CF-81C1-4C6114895D69}"/>
              </a:ext>
            </a:extLst>
          </p:cNvPr>
          <p:cNvSpPr/>
          <p:nvPr/>
        </p:nvSpPr>
        <p:spPr>
          <a:xfrm>
            <a:off x="0" y="4819500"/>
            <a:ext cx="9144000" cy="324000"/>
          </a:xfrm>
          <a:prstGeom prst="rect">
            <a:avLst/>
          </a:prstGeom>
          <a:solidFill>
            <a:srgbClr val="03243D"/>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350"/>
          </a:p>
        </p:txBody>
      </p:sp>
      <p:sp>
        <p:nvSpPr>
          <p:cNvPr id="8" name="TextBox 7">
            <a:extLst>
              <a:ext uri="{FF2B5EF4-FFF2-40B4-BE49-F238E27FC236}">
                <a16:creationId xmlns:a16="http://schemas.microsoft.com/office/drawing/2014/main" id="{38161217-975B-1305-896A-EB2FB1F7EFD8}"/>
              </a:ext>
            </a:extLst>
          </p:cNvPr>
          <p:cNvSpPr txBox="1"/>
          <p:nvPr/>
        </p:nvSpPr>
        <p:spPr>
          <a:xfrm>
            <a:off x="80443" y="4877626"/>
            <a:ext cx="4637811" cy="219291"/>
          </a:xfrm>
          <a:prstGeom prst="rect">
            <a:avLst/>
          </a:prstGeom>
          <a:noFill/>
        </p:spPr>
        <p:txBody>
          <a:bodyPr wrap="square" rtlCol="0">
            <a:spAutoFit/>
          </a:bodyPr>
          <a:lstStyle/>
          <a:p>
            <a:pPr lvl="0"/>
            <a:r>
              <a:rPr lang="en-GB" sz="825" i="1" dirty="0">
                <a:solidFill>
                  <a:schemeClr val="bg1"/>
                </a:solidFill>
                <a:latin typeface="Helvetica" pitchFamily="2" charset="0"/>
              </a:rPr>
              <a:t>The ‘go to’ organisation for Local Government improvement in Scotland</a:t>
            </a:r>
          </a:p>
        </p:txBody>
      </p:sp>
      <p:pic>
        <p:nvPicPr>
          <p:cNvPr id="11" name="Picture 10">
            <a:extLst>
              <a:ext uri="{FF2B5EF4-FFF2-40B4-BE49-F238E27FC236}">
                <a16:creationId xmlns:a16="http://schemas.microsoft.com/office/drawing/2014/main" id="{2D95291B-D571-697A-943E-E87A9E991AFF}"/>
              </a:ext>
            </a:extLst>
          </p:cNvPr>
          <p:cNvPicPr>
            <a:picLocks noChangeAspect="1"/>
          </p:cNvPicPr>
          <p:nvPr/>
        </p:nvPicPr>
        <p:blipFill>
          <a:blip r:embed="rId3"/>
          <a:stretch>
            <a:fillRect/>
          </a:stretch>
        </p:blipFill>
        <p:spPr>
          <a:xfrm>
            <a:off x="8584805" y="4866088"/>
            <a:ext cx="478752" cy="246544"/>
          </a:xfrm>
          <a:prstGeom prst="rect">
            <a:avLst/>
          </a:prstGeom>
        </p:spPr>
      </p:pic>
      <p:sp>
        <p:nvSpPr>
          <p:cNvPr id="12" name="Title 11">
            <a:extLst>
              <a:ext uri="{FF2B5EF4-FFF2-40B4-BE49-F238E27FC236}">
                <a16:creationId xmlns:a16="http://schemas.microsoft.com/office/drawing/2014/main" id="{77FBA848-8C62-B1C9-58C0-4BAE1193BD49}"/>
              </a:ext>
            </a:extLst>
          </p:cNvPr>
          <p:cNvSpPr txBox="1">
            <a:spLocks noGrp="1"/>
          </p:cNvSpPr>
          <p:nvPr>
            <p:ph type="title" idx="4294967295"/>
          </p:nvPr>
        </p:nvSpPr>
        <p:spPr>
          <a:xfrm>
            <a:off x="193432" y="225069"/>
            <a:ext cx="2558008" cy="461665"/>
          </a:xfrm>
          <a:prstGeom prst="rect">
            <a:avLst/>
          </a:prstGeom>
          <a:noFill/>
          <a:ln>
            <a:noFill/>
            <a:prstDash/>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324F"/>
                </a:solidFill>
                <a:effectLst/>
                <a:uLnTx/>
                <a:uFillTx/>
                <a:latin typeface="+mj-lt"/>
                <a:ea typeface="+mn-ea"/>
                <a:cs typeface="+mn-cs"/>
              </a:rPr>
              <a:t>CPOP Data Updates</a:t>
            </a:r>
          </a:p>
        </p:txBody>
      </p:sp>
      <p:sp>
        <p:nvSpPr>
          <p:cNvPr id="9" name="Rectangle 8">
            <a:extLst>
              <a:ext uri="{FF2B5EF4-FFF2-40B4-BE49-F238E27FC236}">
                <a16:creationId xmlns:a16="http://schemas.microsoft.com/office/drawing/2014/main" id="{C6552DA3-ED7B-DC32-27CC-C3ADE5AC75E8}"/>
              </a:ext>
            </a:extLst>
          </p:cNvPr>
          <p:cNvSpPr/>
          <p:nvPr/>
        </p:nvSpPr>
        <p:spPr>
          <a:xfrm>
            <a:off x="0" y="4781221"/>
            <a:ext cx="9144000" cy="54000"/>
          </a:xfrm>
          <a:prstGeom prst="rect">
            <a:avLst/>
          </a:prstGeom>
          <a:solidFill>
            <a:srgbClr val="D1222B"/>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extBox 1">
            <a:extLst>
              <a:ext uri="{FF2B5EF4-FFF2-40B4-BE49-F238E27FC236}">
                <a16:creationId xmlns:a16="http://schemas.microsoft.com/office/drawing/2014/main" id="{5EEDCD8F-53B9-8179-A7AC-3F3B550F946B}"/>
              </a:ext>
            </a:extLst>
          </p:cNvPr>
          <p:cNvSpPr txBox="1"/>
          <p:nvPr/>
        </p:nvSpPr>
        <p:spPr>
          <a:xfrm>
            <a:off x="193432" y="817424"/>
            <a:ext cx="7489026" cy="1754326"/>
          </a:xfrm>
          <a:prstGeom prst="rect">
            <a:avLst/>
          </a:prstGeom>
          <a:noFill/>
        </p:spPr>
        <p:txBody>
          <a:bodyPr wrap="square" rtlCol="0">
            <a:spAutoFit/>
          </a:bodyPr>
          <a:lstStyle/>
          <a:p>
            <a:pPr marL="285750" indent="-285750">
              <a:buFont typeface="Arial" panose="020B0604020202020204" pitchFamily="34" charset="0"/>
              <a:buChar char="•"/>
            </a:pPr>
            <a:r>
              <a:rPr lang="en-GB" dirty="0"/>
              <a:t>All data was updated in October 2025</a:t>
            </a:r>
          </a:p>
          <a:p>
            <a:pPr marL="742950" lvl="1" indent="-285750">
              <a:buFont typeface="Arial" panose="020B0604020202020204" pitchFamily="34" charset="0"/>
              <a:buChar char="•"/>
            </a:pPr>
            <a:r>
              <a:rPr lang="en-GB" dirty="0"/>
              <a:t>Historic Child Poverty Data has changed – new method introduced by DWP to include Scottish Child Payment – impacts all years from 2021</a:t>
            </a:r>
          </a:p>
          <a:p>
            <a:pPr lvl="1"/>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graphicFrame>
        <p:nvGraphicFramePr>
          <p:cNvPr id="3" name="Chart 2">
            <a:extLst>
              <a:ext uri="{FF2B5EF4-FFF2-40B4-BE49-F238E27FC236}">
                <a16:creationId xmlns:a16="http://schemas.microsoft.com/office/drawing/2014/main" id="{C7786D53-1D65-6B9E-E689-8332F8756AF7}"/>
              </a:ext>
            </a:extLst>
          </p:cNvPr>
          <p:cNvGraphicFramePr>
            <a:graphicFrameLocks/>
          </p:cNvGraphicFramePr>
          <p:nvPr>
            <p:extLst>
              <p:ext uri="{D42A27DB-BD31-4B8C-83A1-F6EECF244321}">
                <p14:modId xmlns:p14="http://schemas.microsoft.com/office/powerpoint/2010/main" val="4207785495"/>
              </p:ext>
            </p:extLst>
          </p:nvPr>
        </p:nvGraphicFramePr>
        <p:xfrm>
          <a:off x="1401581" y="1810646"/>
          <a:ext cx="5561351" cy="281599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49460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04C11-7523-1A80-8F9D-957A4E15BC94}"/>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D77CF2B-C582-3C27-73AD-8A6A19037E98}"/>
              </a:ext>
            </a:extLst>
          </p:cNvPr>
          <p:cNvCxnSpPr>
            <a:cxnSpLocks/>
          </p:cNvCxnSpPr>
          <p:nvPr/>
        </p:nvCxnSpPr>
        <p:spPr>
          <a:xfrm>
            <a:off x="260252" y="686734"/>
            <a:ext cx="8623496" cy="0"/>
          </a:xfrm>
          <a:prstGeom prst="line">
            <a:avLst/>
          </a:prstGeom>
          <a:ln w="19050">
            <a:solidFill>
              <a:srgbClr val="03243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5D5E9A09-B214-2DE7-A656-F02578CC19F8}"/>
              </a:ext>
            </a:extLst>
          </p:cNvPr>
          <p:cNvSpPr/>
          <p:nvPr/>
        </p:nvSpPr>
        <p:spPr>
          <a:xfrm>
            <a:off x="0" y="4819500"/>
            <a:ext cx="9144000" cy="324000"/>
          </a:xfrm>
          <a:prstGeom prst="rect">
            <a:avLst/>
          </a:prstGeom>
          <a:solidFill>
            <a:srgbClr val="03243D"/>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350"/>
          </a:p>
        </p:txBody>
      </p:sp>
      <p:sp>
        <p:nvSpPr>
          <p:cNvPr id="8" name="TextBox 7">
            <a:extLst>
              <a:ext uri="{FF2B5EF4-FFF2-40B4-BE49-F238E27FC236}">
                <a16:creationId xmlns:a16="http://schemas.microsoft.com/office/drawing/2014/main" id="{FA93A325-DF4D-755A-52B8-CFD2742F2094}"/>
              </a:ext>
            </a:extLst>
          </p:cNvPr>
          <p:cNvSpPr txBox="1"/>
          <p:nvPr/>
        </p:nvSpPr>
        <p:spPr>
          <a:xfrm>
            <a:off x="80443" y="4877626"/>
            <a:ext cx="4637811" cy="219291"/>
          </a:xfrm>
          <a:prstGeom prst="rect">
            <a:avLst/>
          </a:prstGeom>
          <a:noFill/>
        </p:spPr>
        <p:txBody>
          <a:bodyPr wrap="square" rtlCol="0">
            <a:spAutoFit/>
          </a:bodyPr>
          <a:lstStyle/>
          <a:p>
            <a:pPr lvl="0"/>
            <a:r>
              <a:rPr lang="en-GB" sz="825" i="1" dirty="0">
                <a:solidFill>
                  <a:schemeClr val="bg1"/>
                </a:solidFill>
                <a:latin typeface="Helvetica" pitchFamily="2" charset="0"/>
              </a:rPr>
              <a:t>The ‘go to’ organisation for Local Government improvement in Scotland</a:t>
            </a:r>
          </a:p>
        </p:txBody>
      </p:sp>
      <p:pic>
        <p:nvPicPr>
          <p:cNvPr id="11" name="Picture 10">
            <a:extLst>
              <a:ext uri="{FF2B5EF4-FFF2-40B4-BE49-F238E27FC236}">
                <a16:creationId xmlns:a16="http://schemas.microsoft.com/office/drawing/2014/main" id="{DC64BC7E-43B0-721B-DA62-543278D90386}"/>
              </a:ext>
            </a:extLst>
          </p:cNvPr>
          <p:cNvPicPr>
            <a:picLocks noChangeAspect="1"/>
          </p:cNvPicPr>
          <p:nvPr/>
        </p:nvPicPr>
        <p:blipFill>
          <a:blip r:embed="rId3"/>
          <a:stretch>
            <a:fillRect/>
          </a:stretch>
        </p:blipFill>
        <p:spPr>
          <a:xfrm>
            <a:off x="8584805" y="4866088"/>
            <a:ext cx="478752" cy="246544"/>
          </a:xfrm>
          <a:prstGeom prst="rect">
            <a:avLst/>
          </a:prstGeom>
        </p:spPr>
      </p:pic>
      <p:sp>
        <p:nvSpPr>
          <p:cNvPr id="12" name="Title 11">
            <a:extLst>
              <a:ext uri="{FF2B5EF4-FFF2-40B4-BE49-F238E27FC236}">
                <a16:creationId xmlns:a16="http://schemas.microsoft.com/office/drawing/2014/main" id="{A889DCEB-8844-7711-ACC8-D1291108C61B}"/>
              </a:ext>
            </a:extLst>
          </p:cNvPr>
          <p:cNvSpPr txBox="1">
            <a:spLocks noGrp="1"/>
          </p:cNvSpPr>
          <p:nvPr>
            <p:ph type="title" idx="4294967295"/>
          </p:nvPr>
        </p:nvSpPr>
        <p:spPr>
          <a:xfrm>
            <a:off x="193432" y="225069"/>
            <a:ext cx="2558008" cy="461665"/>
          </a:xfrm>
          <a:prstGeom prst="rect">
            <a:avLst/>
          </a:prstGeom>
          <a:noFill/>
          <a:ln>
            <a:noFill/>
            <a:prstDash/>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324F"/>
                </a:solidFill>
                <a:effectLst/>
                <a:uLnTx/>
                <a:uFillTx/>
                <a:latin typeface="+mj-lt"/>
                <a:ea typeface="+mn-ea"/>
                <a:cs typeface="+mn-cs"/>
              </a:rPr>
              <a:t>CPOP Data Updates</a:t>
            </a:r>
          </a:p>
        </p:txBody>
      </p:sp>
      <p:sp>
        <p:nvSpPr>
          <p:cNvPr id="9" name="Rectangle 8">
            <a:extLst>
              <a:ext uri="{FF2B5EF4-FFF2-40B4-BE49-F238E27FC236}">
                <a16:creationId xmlns:a16="http://schemas.microsoft.com/office/drawing/2014/main" id="{3A1A9B0A-9473-C2DE-7E0D-732BD393F9C2}"/>
              </a:ext>
            </a:extLst>
          </p:cNvPr>
          <p:cNvSpPr/>
          <p:nvPr/>
        </p:nvSpPr>
        <p:spPr>
          <a:xfrm>
            <a:off x="0" y="4781221"/>
            <a:ext cx="9144000" cy="54000"/>
          </a:xfrm>
          <a:prstGeom prst="rect">
            <a:avLst/>
          </a:prstGeom>
          <a:solidFill>
            <a:srgbClr val="D1222B"/>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aphicFrame>
        <p:nvGraphicFramePr>
          <p:cNvPr id="3" name="Chart 2">
            <a:extLst>
              <a:ext uri="{FF2B5EF4-FFF2-40B4-BE49-F238E27FC236}">
                <a16:creationId xmlns:a16="http://schemas.microsoft.com/office/drawing/2014/main" id="{2E7E7108-94D7-0266-D900-071B22A9EADF}"/>
              </a:ext>
            </a:extLst>
          </p:cNvPr>
          <p:cNvGraphicFramePr>
            <a:graphicFrameLocks/>
          </p:cNvGraphicFramePr>
          <p:nvPr>
            <p:extLst>
              <p:ext uri="{D42A27DB-BD31-4B8C-83A1-F6EECF244321}">
                <p14:modId xmlns:p14="http://schemas.microsoft.com/office/powerpoint/2010/main" val="3685428100"/>
              </p:ext>
            </p:extLst>
          </p:nvPr>
        </p:nvGraphicFramePr>
        <p:xfrm>
          <a:off x="674557" y="809471"/>
          <a:ext cx="7682459" cy="366346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316515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5DF8A-A7F1-2249-85CA-1D1FCF25E033}"/>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256C0F36-6AA7-8424-E5E8-0308AE512893}"/>
              </a:ext>
            </a:extLst>
          </p:cNvPr>
          <p:cNvCxnSpPr>
            <a:cxnSpLocks/>
          </p:cNvCxnSpPr>
          <p:nvPr/>
        </p:nvCxnSpPr>
        <p:spPr>
          <a:xfrm>
            <a:off x="260252" y="686734"/>
            <a:ext cx="8623496" cy="0"/>
          </a:xfrm>
          <a:prstGeom prst="line">
            <a:avLst/>
          </a:prstGeom>
          <a:ln w="19050">
            <a:solidFill>
              <a:srgbClr val="03243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1B1CA061-C7C8-69F9-A75D-E98E60875866}"/>
              </a:ext>
            </a:extLst>
          </p:cNvPr>
          <p:cNvSpPr/>
          <p:nvPr/>
        </p:nvSpPr>
        <p:spPr>
          <a:xfrm>
            <a:off x="0" y="4819500"/>
            <a:ext cx="9144000" cy="324000"/>
          </a:xfrm>
          <a:prstGeom prst="rect">
            <a:avLst/>
          </a:prstGeom>
          <a:solidFill>
            <a:srgbClr val="03243D"/>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350"/>
          </a:p>
        </p:txBody>
      </p:sp>
      <p:sp>
        <p:nvSpPr>
          <p:cNvPr id="8" name="TextBox 7">
            <a:extLst>
              <a:ext uri="{FF2B5EF4-FFF2-40B4-BE49-F238E27FC236}">
                <a16:creationId xmlns:a16="http://schemas.microsoft.com/office/drawing/2014/main" id="{C9C5C9EE-99A4-17F8-B9D6-C134C417B846}"/>
              </a:ext>
            </a:extLst>
          </p:cNvPr>
          <p:cNvSpPr txBox="1"/>
          <p:nvPr/>
        </p:nvSpPr>
        <p:spPr>
          <a:xfrm>
            <a:off x="80443" y="4877626"/>
            <a:ext cx="4637811" cy="219291"/>
          </a:xfrm>
          <a:prstGeom prst="rect">
            <a:avLst/>
          </a:prstGeom>
          <a:noFill/>
        </p:spPr>
        <p:txBody>
          <a:bodyPr wrap="square" rtlCol="0">
            <a:spAutoFit/>
          </a:bodyPr>
          <a:lstStyle/>
          <a:p>
            <a:pPr lvl="0"/>
            <a:r>
              <a:rPr lang="en-GB" sz="825" i="1" dirty="0">
                <a:solidFill>
                  <a:schemeClr val="bg1"/>
                </a:solidFill>
                <a:latin typeface="Helvetica" pitchFamily="2" charset="0"/>
              </a:rPr>
              <a:t>The ‘go to’ organisation for Local Government improvement in Scotland</a:t>
            </a:r>
          </a:p>
        </p:txBody>
      </p:sp>
      <p:pic>
        <p:nvPicPr>
          <p:cNvPr id="11" name="Picture 10">
            <a:extLst>
              <a:ext uri="{FF2B5EF4-FFF2-40B4-BE49-F238E27FC236}">
                <a16:creationId xmlns:a16="http://schemas.microsoft.com/office/drawing/2014/main" id="{77378B36-F374-6584-E587-95684D709C9C}"/>
              </a:ext>
            </a:extLst>
          </p:cNvPr>
          <p:cNvPicPr>
            <a:picLocks noChangeAspect="1"/>
          </p:cNvPicPr>
          <p:nvPr/>
        </p:nvPicPr>
        <p:blipFill>
          <a:blip r:embed="rId3"/>
          <a:stretch>
            <a:fillRect/>
          </a:stretch>
        </p:blipFill>
        <p:spPr>
          <a:xfrm>
            <a:off x="8584805" y="4866088"/>
            <a:ext cx="478752" cy="246544"/>
          </a:xfrm>
          <a:prstGeom prst="rect">
            <a:avLst/>
          </a:prstGeom>
        </p:spPr>
      </p:pic>
      <p:sp>
        <p:nvSpPr>
          <p:cNvPr id="12" name="Title 11">
            <a:extLst>
              <a:ext uri="{FF2B5EF4-FFF2-40B4-BE49-F238E27FC236}">
                <a16:creationId xmlns:a16="http://schemas.microsoft.com/office/drawing/2014/main" id="{506D6886-1377-A59D-1328-14980507EA8B}"/>
              </a:ext>
            </a:extLst>
          </p:cNvPr>
          <p:cNvSpPr txBox="1">
            <a:spLocks noGrp="1"/>
          </p:cNvSpPr>
          <p:nvPr>
            <p:ph type="title" idx="4294967295"/>
          </p:nvPr>
        </p:nvSpPr>
        <p:spPr>
          <a:xfrm>
            <a:off x="193432" y="225069"/>
            <a:ext cx="2558008" cy="461665"/>
          </a:xfrm>
          <a:prstGeom prst="rect">
            <a:avLst/>
          </a:prstGeom>
          <a:noFill/>
          <a:ln>
            <a:noFill/>
            <a:prstDash/>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324F"/>
                </a:solidFill>
                <a:effectLst/>
                <a:uLnTx/>
                <a:uFillTx/>
                <a:latin typeface="+mj-lt"/>
                <a:ea typeface="+mn-ea"/>
                <a:cs typeface="+mn-cs"/>
              </a:rPr>
              <a:t>CPOP Data Updates</a:t>
            </a:r>
          </a:p>
        </p:txBody>
      </p:sp>
      <p:sp>
        <p:nvSpPr>
          <p:cNvPr id="9" name="Rectangle 8">
            <a:extLst>
              <a:ext uri="{FF2B5EF4-FFF2-40B4-BE49-F238E27FC236}">
                <a16:creationId xmlns:a16="http://schemas.microsoft.com/office/drawing/2014/main" id="{A7002FD0-1FB3-EA56-DE83-4A88DB4FC21B}"/>
              </a:ext>
            </a:extLst>
          </p:cNvPr>
          <p:cNvSpPr/>
          <p:nvPr/>
        </p:nvSpPr>
        <p:spPr>
          <a:xfrm>
            <a:off x="0" y="4781221"/>
            <a:ext cx="9144000" cy="54000"/>
          </a:xfrm>
          <a:prstGeom prst="rect">
            <a:avLst/>
          </a:prstGeom>
          <a:solidFill>
            <a:srgbClr val="D1222B"/>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aphicFrame>
        <p:nvGraphicFramePr>
          <p:cNvPr id="2" name="Chart 1">
            <a:extLst>
              <a:ext uri="{FF2B5EF4-FFF2-40B4-BE49-F238E27FC236}">
                <a16:creationId xmlns:a16="http://schemas.microsoft.com/office/drawing/2014/main" id="{F34DEAC0-3DB5-D764-A933-7F4EE287C913}"/>
              </a:ext>
            </a:extLst>
          </p:cNvPr>
          <p:cNvGraphicFramePr>
            <a:graphicFrameLocks/>
          </p:cNvGraphicFramePr>
          <p:nvPr>
            <p:extLst>
              <p:ext uri="{D42A27DB-BD31-4B8C-83A1-F6EECF244321}">
                <p14:modId xmlns:p14="http://schemas.microsoft.com/office/powerpoint/2010/main" val="1242565358"/>
              </p:ext>
            </p:extLst>
          </p:nvPr>
        </p:nvGraphicFramePr>
        <p:xfrm>
          <a:off x="382249" y="891918"/>
          <a:ext cx="8202555" cy="358102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677586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340EA-B48B-9207-9A63-668592DA435F}"/>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BA3A7446-C627-604D-E5A9-5367F735036D}"/>
              </a:ext>
            </a:extLst>
          </p:cNvPr>
          <p:cNvCxnSpPr>
            <a:cxnSpLocks/>
          </p:cNvCxnSpPr>
          <p:nvPr/>
        </p:nvCxnSpPr>
        <p:spPr>
          <a:xfrm>
            <a:off x="260252" y="686734"/>
            <a:ext cx="8623496" cy="0"/>
          </a:xfrm>
          <a:prstGeom prst="line">
            <a:avLst/>
          </a:prstGeom>
          <a:ln w="19050">
            <a:solidFill>
              <a:srgbClr val="03243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A416121C-D2D9-C3CF-81C1-4C6114895D69}"/>
              </a:ext>
            </a:extLst>
          </p:cNvPr>
          <p:cNvSpPr/>
          <p:nvPr/>
        </p:nvSpPr>
        <p:spPr>
          <a:xfrm>
            <a:off x="0" y="4819500"/>
            <a:ext cx="9144000" cy="324000"/>
          </a:xfrm>
          <a:prstGeom prst="rect">
            <a:avLst/>
          </a:prstGeom>
          <a:solidFill>
            <a:srgbClr val="03243D"/>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350"/>
          </a:p>
        </p:txBody>
      </p:sp>
      <p:sp>
        <p:nvSpPr>
          <p:cNvPr id="8" name="TextBox 7">
            <a:extLst>
              <a:ext uri="{FF2B5EF4-FFF2-40B4-BE49-F238E27FC236}">
                <a16:creationId xmlns:a16="http://schemas.microsoft.com/office/drawing/2014/main" id="{38161217-975B-1305-896A-EB2FB1F7EFD8}"/>
              </a:ext>
            </a:extLst>
          </p:cNvPr>
          <p:cNvSpPr txBox="1"/>
          <p:nvPr/>
        </p:nvSpPr>
        <p:spPr>
          <a:xfrm>
            <a:off x="80443" y="4877626"/>
            <a:ext cx="4637811" cy="219291"/>
          </a:xfrm>
          <a:prstGeom prst="rect">
            <a:avLst/>
          </a:prstGeom>
          <a:noFill/>
        </p:spPr>
        <p:txBody>
          <a:bodyPr wrap="square" rtlCol="0">
            <a:spAutoFit/>
          </a:bodyPr>
          <a:lstStyle/>
          <a:p>
            <a:pPr lvl="0"/>
            <a:r>
              <a:rPr lang="en-GB" sz="825" i="1" dirty="0">
                <a:solidFill>
                  <a:schemeClr val="bg1"/>
                </a:solidFill>
                <a:latin typeface="Helvetica" pitchFamily="2" charset="0"/>
              </a:rPr>
              <a:t>The ‘go to’ organisation for Local Government improvement in Scotland</a:t>
            </a:r>
          </a:p>
        </p:txBody>
      </p:sp>
      <p:pic>
        <p:nvPicPr>
          <p:cNvPr id="11" name="Picture 10">
            <a:extLst>
              <a:ext uri="{FF2B5EF4-FFF2-40B4-BE49-F238E27FC236}">
                <a16:creationId xmlns:a16="http://schemas.microsoft.com/office/drawing/2014/main" id="{2D95291B-D571-697A-943E-E87A9E991AFF}"/>
              </a:ext>
            </a:extLst>
          </p:cNvPr>
          <p:cNvPicPr>
            <a:picLocks noChangeAspect="1"/>
          </p:cNvPicPr>
          <p:nvPr/>
        </p:nvPicPr>
        <p:blipFill>
          <a:blip r:embed="rId2"/>
          <a:stretch>
            <a:fillRect/>
          </a:stretch>
        </p:blipFill>
        <p:spPr>
          <a:xfrm>
            <a:off x="8584805" y="4866088"/>
            <a:ext cx="478752" cy="246544"/>
          </a:xfrm>
          <a:prstGeom prst="rect">
            <a:avLst/>
          </a:prstGeom>
        </p:spPr>
      </p:pic>
      <p:sp>
        <p:nvSpPr>
          <p:cNvPr id="12" name="Title 11">
            <a:extLst>
              <a:ext uri="{FF2B5EF4-FFF2-40B4-BE49-F238E27FC236}">
                <a16:creationId xmlns:a16="http://schemas.microsoft.com/office/drawing/2014/main" id="{77FBA848-8C62-B1C9-58C0-4BAE1193BD49}"/>
              </a:ext>
            </a:extLst>
          </p:cNvPr>
          <p:cNvSpPr txBox="1">
            <a:spLocks noGrp="1"/>
          </p:cNvSpPr>
          <p:nvPr>
            <p:ph type="title" idx="4294967295"/>
          </p:nvPr>
        </p:nvSpPr>
        <p:spPr>
          <a:xfrm>
            <a:off x="193432" y="225069"/>
            <a:ext cx="3218382" cy="461665"/>
          </a:xfrm>
          <a:prstGeom prst="rect">
            <a:avLst/>
          </a:prstGeom>
          <a:noFill/>
          <a:ln>
            <a:noFill/>
            <a:prstDash/>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324F"/>
                </a:solidFill>
                <a:effectLst/>
                <a:uLnTx/>
                <a:uFillTx/>
                <a:latin typeface="+mj-lt"/>
                <a:ea typeface="+mn-ea"/>
                <a:cs typeface="+mn-cs"/>
              </a:rPr>
              <a:t>Feedback and Next Steps</a:t>
            </a:r>
          </a:p>
        </p:txBody>
      </p:sp>
      <p:sp>
        <p:nvSpPr>
          <p:cNvPr id="9" name="Rectangle 8">
            <a:extLst>
              <a:ext uri="{FF2B5EF4-FFF2-40B4-BE49-F238E27FC236}">
                <a16:creationId xmlns:a16="http://schemas.microsoft.com/office/drawing/2014/main" id="{C6552DA3-ED7B-DC32-27CC-C3ADE5AC75E8}"/>
              </a:ext>
            </a:extLst>
          </p:cNvPr>
          <p:cNvSpPr/>
          <p:nvPr/>
        </p:nvSpPr>
        <p:spPr>
          <a:xfrm>
            <a:off x="0" y="4781221"/>
            <a:ext cx="9144000" cy="54000"/>
          </a:xfrm>
          <a:prstGeom prst="rect">
            <a:avLst/>
          </a:prstGeom>
          <a:solidFill>
            <a:srgbClr val="D1222B"/>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extBox 1">
            <a:extLst>
              <a:ext uri="{FF2B5EF4-FFF2-40B4-BE49-F238E27FC236}">
                <a16:creationId xmlns:a16="http://schemas.microsoft.com/office/drawing/2014/main" id="{31C5BB48-8868-9859-5B1B-CB5B8B31B424}"/>
              </a:ext>
            </a:extLst>
          </p:cNvPr>
          <p:cNvSpPr txBox="1"/>
          <p:nvPr/>
        </p:nvSpPr>
        <p:spPr>
          <a:xfrm>
            <a:off x="457199" y="1002089"/>
            <a:ext cx="7613009" cy="3416320"/>
          </a:xfrm>
          <a:prstGeom prst="rect">
            <a:avLst/>
          </a:prstGeom>
          <a:noFill/>
        </p:spPr>
        <p:txBody>
          <a:bodyPr wrap="square" rtlCol="0">
            <a:spAutoFit/>
          </a:bodyPr>
          <a:lstStyle/>
          <a:p>
            <a:r>
              <a:rPr lang="en-GB" dirty="0"/>
              <a:t>In 2025 feedback from: Focus Group, session with Perth and Kinross, feedback from Community Planning Network</a:t>
            </a:r>
          </a:p>
          <a:p>
            <a:endParaRPr lang="en-GB" dirty="0"/>
          </a:p>
          <a:p>
            <a:r>
              <a:rPr lang="en-GB" dirty="0"/>
              <a:t>Positive feedback and a few suggested areas for improvement e.g. guidance; improving performance (</a:t>
            </a:r>
            <a:r>
              <a:rPr lang="en-GB" dirty="0">
                <a:hlinkClick r:id="rId3"/>
              </a:rPr>
              <a:t>https://improvementservice.shinyapps.io/CPOP/</a:t>
            </a:r>
            <a:r>
              <a:rPr lang="en-GB" dirty="0"/>
              <a:t>); more data zone level visuals.</a:t>
            </a:r>
          </a:p>
          <a:p>
            <a:endParaRPr lang="en-GB" dirty="0"/>
          </a:p>
          <a:p>
            <a:r>
              <a:rPr lang="en-GB" dirty="0"/>
              <a:t>Next steps – developing a report to take to our SLT summarising impact and proposing a development plan.</a:t>
            </a:r>
          </a:p>
          <a:p>
            <a:endParaRPr lang="en-GB" dirty="0"/>
          </a:p>
          <a:p>
            <a:r>
              <a:rPr lang="en-GB" dirty="0"/>
              <a:t>Child Poverty Data – in 2026 DWP will publish both before </a:t>
            </a:r>
            <a:r>
              <a:rPr lang="en-GB" b="1" u="sng" dirty="0"/>
              <a:t>and</a:t>
            </a:r>
            <a:r>
              <a:rPr lang="en-GB" dirty="0"/>
              <a:t> after housing cost data for the first time.</a:t>
            </a:r>
          </a:p>
        </p:txBody>
      </p:sp>
    </p:spTree>
    <p:extLst>
      <p:ext uri="{BB962C8B-B14F-4D97-AF65-F5344CB8AC3E}">
        <p14:creationId xmlns:p14="http://schemas.microsoft.com/office/powerpoint/2010/main" val="2880511729"/>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4E37E5449D0C04ABB746406540A58A4" ma:contentTypeVersion="25" ma:contentTypeDescription="Create a new document." ma:contentTypeScope="" ma:versionID="39083be46d7781f026c03352e13495ee">
  <xsd:schema xmlns:xsd="http://www.w3.org/2001/XMLSchema" xmlns:xs="http://www.w3.org/2001/XMLSchema" xmlns:p="http://schemas.microsoft.com/office/2006/metadata/properties" xmlns:ns2="98c8c46b-f24b-4722-b4ea-0fa6af3cff7b" xmlns:ns3="4cc6cf2a-33ea-4e42-91fe-ef3352b7f56e" targetNamespace="http://schemas.microsoft.com/office/2006/metadata/properties" ma:root="true" ma:fieldsID="f3fb9a86b781636b0f6a7f597016a7ab" ns2:_="" ns3:_="">
    <xsd:import namespace="98c8c46b-f24b-4722-b4ea-0fa6af3cff7b"/>
    <xsd:import namespace="4cc6cf2a-33ea-4e42-91fe-ef3352b7f56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tadata" minOccurs="0"/>
                <xsd:element ref="ns2:National_x0020_Outcome" minOccurs="0"/>
                <xsd:element ref="ns2:National_x0020_Outcomes" minOccurs="0"/>
                <xsd:element ref="ns2:Linktopublishedcontent" minOccurs="0"/>
                <xsd:element ref="ns2:Team" minOccurs="0"/>
                <xsd:element ref="ns2:Teams" minOccurs="0"/>
                <xsd:element ref="ns2:Priority"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c8c46b-f24b-4722-b4ea-0fa6af3cff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tadata" ma:index="12" nillable="true" ma:displayName="Summary" ma:description="Used for case study snippet" ma:format="Dropdown" ma:internalName="Metadata">
      <xsd:simpleType>
        <xsd:restriction base="dms:Note"/>
      </xsd:simpleType>
    </xsd:element>
    <xsd:element name="National_x0020_Outcome" ma:index="13" nillable="true" ma:displayName="National Outcome" ma:default="1" ma:format="Dropdown" ma:internalName="National_x0020_Outcome">
      <xsd:simpleType>
        <xsd:restriction base="dms:Choice">
          <xsd:enumeration value="1"/>
          <xsd:enumeration value="2"/>
          <xsd:enumeration value="3"/>
          <xsd:enumeration value="Enter Choice #2"/>
          <xsd:enumeration value="Enter Choice #3"/>
        </xsd:restriction>
      </xsd:simpleType>
    </xsd:element>
    <xsd:element name="National_x0020_Outcomes" ma:index="14" nillable="true" ma:displayName="National Outcomes" ma:format="Dropdown" ma:internalName="National_x0020_Outcomes">
      <xsd:complexType>
        <xsd:complexContent>
          <xsd:extension base="dms:MultiChoice">
            <xsd:sequence>
              <xsd:element name="Value" maxOccurs="unbounded" minOccurs="0" nillable="true">
                <xsd:simpleType>
                  <xsd:restriction base="dms:Choice">
                    <xsd:enumeration value="Human Rights"/>
                    <xsd:enumeration value="Culture"/>
                    <xsd:enumeration value="Environment"/>
                    <xsd:enumeration value="Health"/>
                    <xsd:enumeration value="Fair Work and Business"/>
                    <xsd:enumeration value="Education"/>
                    <xsd:enumeration value="Children"/>
                    <xsd:enumeration value="Economy"/>
                    <xsd:enumeration value="International"/>
                    <xsd:enumeration value="Poverty"/>
                    <xsd:enumeration value="Communities"/>
                  </xsd:restriction>
                </xsd:simpleType>
              </xsd:element>
            </xsd:sequence>
          </xsd:extension>
        </xsd:complexContent>
      </xsd:complexType>
    </xsd:element>
    <xsd:element name="Linktopublishedcontent" ma:index="15" nillable="true" ma:displayName="Link to published content" ma:format="Hyperlink" ma:internalName="Linktopublishedcontent">
      <xsd:complexType>
        <xsd:complexContent>
          <xsd:extension base="dms:URL">
            <xsd:sequence>
              <xsd:element name="Url" type="dms:ValidUrl" minOccurs="0" nillable="true"/>
              <xsd:element name="Description" type="xsd:string" nillable="true"/>
            </xsd:sequence>
          </xsd:extension>
        </xsd:complexContent>
      </xsd:complexType>
    </xsd:element>
    <xsd:element name="Team" ma:index="16" nillable="true" ma:displayName="Team" ma:format="Dropdown" ma:internalName="Team">
      <xsd:simpleType>
        <xsd:union memberTypes="dms:Text">
          <xsd:simpleType>
            <xsd:restriction base="dms:Choice">
              <xsd:enumeration value="Change Management"/>
              <xsd:enumeration value="Child Poverty"/>
              <xsd:enumeration value="Digital Public Services"/>
              <xsd:enumeration value="Elected Member"/>
              <xsd:enumeration value="PSIF"/>
              <xsd:enumeration value="Spatial"/>
            </xsd:restriction>
          </xsd:simpleType>
        </xsd:union>
      </xsd:simpleType>
    </xsd:element>
    <xsd:element name="Teams" ma:index="17" nillable="true" ma:displayName="Teams" ma:format="Dropdown" ma:internalName="Teams">
      <xsd:simpleType>
        <xsd:union memberTypes="dms:Text">
          <xsd:simpleType>
            <xsd:restriction base="dms:Choice">
              <xsd:enumeration value="Choice 1"/>
              <xsd:enumeration value="Choice 2"/>
              <xsd:enumeration value="Choice 3"/>
            </xsd:restriction>
          </xsd:simpleType>
        </xsd:union>
      </xsd:simpleType>
    </xsd:element>
    <xsd:element name="Priority" ma:index="18" nillable="true" ma:displayName="Priority" ma:description="Priority given to the development of the case study" ma:format="Dropdown" ma:internalName="Priority">
      <xsd:simpleType>
        <xsd:restriction base="dms:Choice">
          <xsd:enumeration value="P1 - top - proceed"/>
          <xsd:enumeration value="P1 - top - other format required"/>
          <xsd:enumeration value="P2 - proceed"/>
          <xsd:enumeration value="P2 - proceed - other format required"/>
          <xsd:enumeration value="P3 - lowest priority"/>
          <xsd:enumeration value="-- unassigned --"/>
        </xsd:restriction>
      </xsd:simpleType>
    </xsd:element>
    <xsd:element name="MediaServiceAutoTags" ma:index="19" nillable="true" ma:displayName="Tags" ma:internalName="MediaServiceAutoTags"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AutoKeyPoints" ma:index="23" nillable="true" ma:displayName="MediaServiceAutoKeyPoints" ma:hidden="true" ma:internalName="MediaServiceAutoKeyPoints" ma:readOnly="true">
      <xsd:simpleType>
        <xsd:restriction base="dms:Note"/>
      </xsd:simpleType>
    </xsd:element>
    <xsd:element name="MediaServiceKeyPoints" ma:index="24" nillable="true" ma:displayName="KeyPoints" ma:internalName="MediaServiceKeyPoints" ma:readOnly="true">
      <xsd:simpleType>
        <xsd:restriction base="dms:Note">
          <xsd:maxLength value="255"/>
        </xsd:restriction>
      </xsd:simpleType>
    </xsd:element>
    <xsd:element name="MediaServiceDateTaken" ma:index="25" nillable="true" ma:displayName="MediaServiceDateTaken" ma:hidden="true" ma:internalName="MediaServiceDateTaken" ma:readOnly="true">
      <xsd:simpleType>
        <xsd:restriction base="dms:Text"/>
      </xsd:simpleType>
    </xsd:element>
    <xsd:element name="MediaLengthInSeconds" ma:index="26" nillable="true" ma:displayName="MediaLengthInSeconds" ma:hidden="true" ma:internalName="MediaLengthInSeconds" ma:readOnly="true">
      <xsd:simpleType>
        <xsd:restriction base="dms:Unknown"/>
      </xsd:simpleType>
    </xsd:element>
    <xsd:element name="MediaServiceLocation" ma:index="27" nillable="true" ma:displayName="Location" ma:internalName="MediaServiceLocation" ma:readOnly="true">
      <xsd:simpleType>
        <xsd:restriction base="dms:Text"/>
      </xsd:simpleType>
    </xsd:element>
    <xsd:element name="lcf76f155ced4ddcb4097134ff3c332f" ma:index="29" nillable="true" ma:taxonomy="true" ma:internalName="lcf76f155ced4ddcb4097134ff3c332f" ma:taxonomyFieldName="MediaServiceImageTags" ma:displayName="Image Tags" ma:readOnly="false" ma:fieldId="{5cf76f15-5ced-4ddc-b409-7134ff3c332f}" ma:taxonomyMulti="true" ma:sspId="c68f511a-55f6-4a17-bf66-50620cb4ac5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1" nillable="true" ma:displayName="MediaServiceObjectDetectorVersions"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cc6cf2a-33ea-4e42-91fe-ef3352b7f56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30" nillable="true" ma:displayName="Taxonomy Catch All Column" ma:hidden="true" ma:list="{f3e95c23-d1e6-4050-b4a8-728a06be7ffb}" ma:internalName="TaxCatchAll" ma:showField="CatchAllData" ma:web="4cc6cf2a-33ea-4e42-91fe-ef3352b7f56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tadata xmlns="98c8c46b-f24b-4722-b4ea-0fa6af3cff7b" xsi:nil="true"/>
    <Priority xmlns="98c8c46b-f24b-4722-b4ea-0fa6af3cff7b" xsi:nil="true"/>
    <Teams xmlns="98c8c46b-f24b-4722-b4ea-0fa6af3cff7b" xsi:nil="true"/>
    <Team xmlns="98c8c46b-f24b-4722-b4ea-0fa6af3cff7b" xsi:nil="true"/>
    <TaxCatchAll xmlns="4cc6cf2a-33ea-4e42-91fe-ef3352b7f56e" xsi:nil="true"/>
    <National_x0020_Outcomes xmlns="98c8c46b-f24b-4722-b4ea-0fa6af3cff7b" xsi:nil="true"/>
    <National_x0020_Outcome xmlns="98c8c46b-f24b-4722-b4ea-0fa6af3cff7b">1</National_x0020_Outcome>
    <lcf76f155ced4ddcb4097134ff3c332f xmlns="98c8c46b-f24b-4722-b4ea-0fa6af3cff7b">
      <Terms xmlns="http://schemas.microsoft.com/office/infopath/2007/PartnerControls"/>
    </lcf76f155ced4ddcb4097134ff3c332f>
    <Linktopublishedcontent xmlns="98c8c46b-f24b-4722-b4ea-0fa6af3cff7b">
      <Url xsi:nil="true"/>
      <Description xsi:nil="true"/>
    </Linktopublishedcontent>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8EB7E3E-3907-4734-9E5F-CA4EE711424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8c8c46b-f24b-4722-b4ea-0fa6af3cff7b"/>
    <ds:schemaRef ds:uri="4cc6cf2a-33ea-4e42-91fe-ef3352b7f56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553597-2426-42AC-B430-BE32CBC6A5C4}">
  <ds:schemaRefs>
    <ds:schemaRef ds:uri="http://schemas.microsoft.com/office/infopath/2007/PartnerControls"/>
    <ds:schemaRef ds:uri="http://purl.org/dc/dcmitype/"/>
    <ds:schemaRef ds:uri="http://schemas.microsoft.com/office/2006/documentManagement/types"/>
    <ds:schemaRef ds:uri="http://purl.org/dc/elements/1.1/"/>
    <ds:schemaRef ds:uri="http://schemas.microsoft.com/office/2006/metadata/properties"/>
    <ds:schemaRef ds:uri="http://www.w3.org/XML/1998/namespace"/>
    <ds:schemaRef ds:uri="http://schemas.openxmlformats.org/package/2006/metadata/core-properties"/>
    <ds:schemaRef ds:uri="4cc6cf2a-33ea-4e42-91fe-ef3352b7f56e"/>
    <ds:schemaRef ds:uri="98c8c46b-f24b-4722-b4ea-0fa6af3cff7b"/>
    <ds:schemaRef ds:uri="http://purl.org/dc/terms/"/>
  </ds:schemaRefs>
</ds:datastoreItem>
</file>

<file path=customXml/itemProps3.xml><?xml version="1.0" encoding="utf-8"?>
<ds:datastoreItem xmlns:ds="http://schemas.openxmlformats.org/officeDocument/2006/customXml" ds:itemID="{71BA822D-4FB9-457C-BB3E-5B688926236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809</TotalTime>
  <Words>275</Words>
  <Application>Microsoft Office PowerPoint</Application>
  <PresentationFormat>On-screen Show (16:9)</PresentationFormat>
  <Paragraphs>29</Paragraphs>
  <Slides>5</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Aptos</vt:lpstr>
      <vt:lpstr>Arial</vt:lpstr>
      <vt:lpstr>Calibri</vt:lpstr>
      <vt:lpstr>Calibri Light</vt:lpstr>
      <vt:lpstr>Helvetica</vt:lpstr>
      <vt:lpstr>Office 2013 - 2022 Theme</vt:lpstr>
      <vt:lpstr>CMN CPOP Update 2nd February 2026</vt:lpstr>
      <vt:lpstr>CPOP Data Updates</vt:lpstr>
      <vt:lpstr>CPOP Data Updates</vt:lpstr>
      <vt:lpstr>CPOP Data Updates</vt:lpstr>
      <vt:lpstr>Feedback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Louise Jenkins</dc:creator>
  <cp:lastModifiedBy>Nick Cassidy</cp:lastModifiedBy>
  <cp:revision>27</cp:revision>
  <dcterms:created xsi:type="dcterms:W3CDTF">2020-06-23T14:07:25Z</dcterms:created>
  <dcterms:modified xsi:type="dcterms:W3CDTF">2026-01-29T09:55:57Z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0x010100C4E37E5449D0C04ABB746406540A58A4</vt:lpwstr>
  </property>
  <property fmtid="{D5CDD505-2E9C-101B-9397-08002B2CF9AE}" pid="3" name="MediaServiceImageTags">
    <vt:lpwstr/>
  </property>
</Properties>
</file>